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6"/>
  </p:notesMasterIdLst>
  <p:sldIdLst>
    <p:sldId id="256" r:id="rId2"/>
    <p:sldId id="261" r:id="rId3"/>
    <p:sldId id="262" r:id="rId4"/>
    <p:sldId id="263" r:id="rId5"/>
    <p:sldId id="276" r:id="rId6"/>
    <p:sldId id="264" r:id="rId7"/>
    <p:sldId id="275" r:id="rId8"/>
    <p:sldId id="265" r:id="rId9"/>
    <p:sldId id="273" r:id="rId10"/>
    <p:sldId id="267" r:id="rId11"/>
    <p:sldId id="268" r:id="rId12"/>
    <p:sldId id="269" r:id="rId13"/>
    <p:sldId id="270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622" autoAdjust="0"/>
  </p:normalViewPr>
  <p:slideViewPr>
    <p:cSldViewPr snapToGrid="0">
      <p:cViewPr varScale="1">
        <p:scale>
          <a:sx n="98" d="100"/>
          <a:sy n="98" d="100"/>
        </p:scale>
        <p:origin x="13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80E2C-1E86-4511-97AD-821548B9FFF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12599-D25F-4F23-BEB5-33F40CB732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47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596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193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324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492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178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272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935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229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658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12599-D25F-4F23-BEB5-33F40CB732B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759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6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77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691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2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69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00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9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98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42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71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340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3806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98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229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22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653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5616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846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48BBD51-FD46-433A-BCDC-3AD25804D4B9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CF62B-D725-40D0-A184-F381DA2B1C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861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  <p:sldLayoutId id="2147483851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7AE09C1-C8EA-67BA-42DA-9A4185632879}"/>
              </a:ext>
            </a:extLst>
          </p:cNvPr>
          <p:cNvSpPr/>
          <p:nvPr/>
        </p:nvSpPr>
        <p:spPr>
          <a:xfrm>
            <a:off x="5246423" y="3553880"/>
            <a:ext cx="1868132" cy="28475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9306F-AB39-C9EF-96BF-AFB9F9E0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82" y="172279"/>
            <a:ext cx="10250558" cy="1127885"/>
          </a:xfrm>
        </p:spPr>
        <p:txBody>
          <a:bodyPr>
            <a:noAutofit/>
          </a:bodyPr>
          <a:lstStyle/>
          <a:p>
            <a:r>
              <a:rPr lang="en-GB" sz="2800" b="1" dirty="0"/>
              <a:t>Environmental Guidance in Digital Games: Influencing Player Navigation Without Explicit Instruction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231E6B-5F59-414C-E5FA-AED6A34E6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696" y="1300164"/>
            <a:ext cx="10316817" cy="2768253"/>
          </a:xfrm>
        </p:spPr>
        <p:txBody>
          <a:bodyPr>
            <a:normAutofit/>
          </a:bodyPr>
          <a:lstStyle/>
          <a:p>
            <a:pPr algn="ctr"/>
            <a:r>
              <a:rPr lang="en-GB" sz="2000" dirty="0"/>
              <a:t>Morgan Hodge</a:t>
            </a:r>
          </a:p>
          <a:p>
            <a:pPr algn="ctr"/>
            <a:r>
              <a:rPr lang="en-GB" sz="1400" dirty="0"/>
              <a:t>MA Game Design</a:t>
            </a:r>
            <a:endParaRPr lang="en-GB" dirty="0"/>
          </a:p>
          <a:p>
            <a:pPr algn="l"/>
            <a:r>
              <a:rPr lang="en-GB" sz="2400" b="1" dirty="0"/>
              <a:t>Research Question:</a:t>
            </a:r>
          </a:p>
          <a:p>
            <a:r>
              <a:rPr lang="en-GB" sz="2000" dirty="0"/>
              <a:t>Which environmental design techniques are most effective at influencing player navigation and decision making without explicit guidance systems?</a:t>
            </a:r>
          </a:p>
          <a:p>
            <a:endParaRPr lang="en-GB" sz="1900" dirty="0"/>
          </a:p>
          <a:p>
            <a:pPr algn="l"/>
            <a:r>
              <a:rPr lang="en-GB" sz="2400" b="1" dirty="0"/>
              <a:t>Project Overview: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94771-E1BB-0876-1693-802380C10C33}"/>
              </a:ext>
            </a:extLst>
          </p:cNvPr>
          <p:cNvSpPr txBox="1"/>
          <p:nvPr/>
        </p:nvSpPr>
        <p:spPr>
          <a:xfrm>
            <a:off x="0" y="4777592"/>
            <a:ext cx="1517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Research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7E0297-15A5-021B-4D51-F5C839A3F081}"/>
              </a:ext>
            </a:extLst>
          </p:cNvPr>
          <p:cNvSpPr txBox="1"/>
          <p:nvPr/>
        </p:nvSpPr>
        <p:spPr>
          <a:xfrm>
            <a:off x="1570382" y="4642303"/>
            <a:ext cx="1430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Research 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4F615-E165-6CC3-6AE7-1BCEA67D9211}"/>
              </a:ext>
            </a:extLst>
          </p:cNvPr>
          <p:cNvSpPr txBox="1"/>
          <p:nvPr/>
        </p:nvSpPr>
        <p:spPr>
          <a:xfrm>
            <a:off x="3252994" y="4488415"/>
            <a:ext cx="1649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Existing Guidance 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FCE27-35CF-88AE-466A-EC685CA35A0D}"/>
              </a:ext>
            </a:extLst>
          </p:cNvPr>
          <p:cNvSpPr txBox="1"/>
          <p:nvPr/>
        </p:nvSpPr>
        <p:spPr>
          <a:xfrm>
            <a:off x="5298800" y="3672807"/>
            <a:ext cx="18677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Prototype 1 - Lighting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E388B0-B3D0-5D6F-182A-0CBB77791715}"/>
              </a:ext>
            </a:extLst>
          </p:cNvPr>
          <p:cNvSpPr txBox="1"/>
          <p:nvPr/>
        </p:nvSpPr>
        <p:spPr>
          <a:xfrm>
            <a:off x="5298800" y="4642303"/>
            <a:ext cx="2085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Prototype 2 -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41968-2146-C675-CCAF-9FE11A25082E}"/>
              </a:ext>
            </a:extLst>
          </p:cNvPr>
          <p:cNvSpPr txBox="1"/>
          <p:nvPr/>
        </p:nvSpPr>
        <p:spPr>
          <a:xfrm>
            <a:off x="5298800" y="5611799"/>
            <a:ext cx="191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Prototype 3 - Landmarks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FDD001-FEE8-0D85-54F0-6597FF69EF13}"/>
              </a:ext>
            </a:extLst>
          </p:cNvPr>
          <p:cNvSpPr txBox="1"/>
          <p:nvPr/>
        </p:nvSpPr>
        <p:spPr>
          <a:xfrm>
            <a:off x="7535516" y="4796192"/>
            <a:ext cx="168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User testing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866EEC-7748-EE3D-7DEF-F8F2FD854B90}"/>
              </a:ext>
            </a:extLst>
          </p:cNvPr>
          <p:cNvSpPr txBox="1"/>
          <p:nvPr/>
        </p:nvSpPr>
        <p:spPr>
          <a:xfrm>
            <a:off x="9621078" y="4784392"/>
            <a:ext cx="257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Analysis &amp; Findings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9AFB56D-5CB7-938A-DD44-E66A64D3AE53}"/>
              </a:ext>
            </a:extLst>
          </p:cNvPr>
          <p:cNvSpPr/>
          <p:nvPr/>
        </p:nvSpPr>
        <p:spPr>
          <a:xfrm>
            <a:off x="1318178" y="4824704"/>
            <a:ext cx="292794" cy="343083"/>
          </a:xfrm>
          <a:prstGeom prst="rightArrow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0A74D1B-5438-768D-8CAC-B25399C40586}"/>
              </a:ext>
            </a:extLst>
          </p:cNvPr>
          <p:cNvSpPr/>
          <p:nvPr/>
        </p:nvSpPr>
        <p:spPr>
          <a:xfrm>
            <a:off x="2905951" y="4849495"/>
            <a:ext cx="292794" cy="343083"/>
          </a:xfrm>
          <a:prstGeom prst="rightArrow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D16C94A-1223-C068-C515-B7AE33C52BAA}"/>
              </a:ext>
            </a:extLst>
          </p:cNvPr>
          <p:cNvSpPr/>
          <p:nvPr/>
        </p:nvSpPr>
        <p:spPr>
          <a:xfrm>
            <a:off x="4902890" y="4904217"/>
            <a:ext cx="292794" cy="343083"/>
          </a:xfrm>
          <a:prstGeom prst="rightArrow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3E8D182-60AB-F714-022B-9DC6A62B15C4}"/>
              </a:ext>
            </a:extLst>
          </p:cNvPr>
          <p:cNvSpPr/>
          <p:nvPr/>
        </p:nvSpPr>
        <p:spPr>
          <a:xfrm>
            <a:off x="7195518" y="4857274"/>
            <a:ext cx="292794" cy="343083"/>
          </a:xfrm>
          <a:prstGeom prst="rightArrow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1E29E9E-7E83-E20A-FEBD-4E1B7584CA85}"/>
              </a:ext>
            </a:extLst>
          </p:cNvPr>
          <p:cNvSpPr/>
          <p:nvPr/>
        </p:nvSpPr>
        <p:spPr>
          <a:xfrm>
            <a:off x="9252493" y="4849495"/>
            <a:ext cx="292794" cy="343083"/>
          </a:xfrm>
          <a:prstGeom prst="rightArrow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241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C8E9-AEAA-DF85-3BB9-455573093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712" y="93785"/>
            <a:ext cx="2511304" cy="829005"/>
          </a:xfrm>
        </p:spPr>
        <p:txBody>
          <a:bodyPr/>
          <a:lstStyle/>
          <a:p>
            <a:r>
              <a:rPr lang="en-GB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52D00-E6FF-74B2-328F-72444F03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82" y="1015999"/>
            <a:ext cx="10681307" cy="379046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Player Navigation is a fundamental part of level design</a:t>
            </a:r>
          </a:p>
          <a:p>
            <a:r>
              <a:rPr lang="en-GB" dirty="0"/>
              <a:t>Players are constantly making decisions about where to go, what to investigate and which route to take</a:t>
            </a:r>
          </a:p>
          <a:p>
            <a:r>
              <a:rPr lang="en-GB" dirty="0"/>
              <a:t>Many games support this through explicit systems such as: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dirty="0"/>
              <a:t>Objective markers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dirty="0"/>
              <a:t>Waypoints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dirty="0"/>
              <a:t>Arrows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GB" dirty="0"/>
              <a:t>Mini Maps</a:t>
            </a:r>
          </a:p>
          <a:p>
            <a:r>
              <a:rPr lang="en-GB" dirty="0"/>
              <a:t>However, these systems can reduce the need for the players to interpret the environment themselves</a:t>
            </a:r>
          </a:p>
          <a:p>
            <a:r>
              <a:rPr lang="en-GB" dirty="0"/>
              <a:t>This project explores whether environmental design can communicate direction and influence player decision without relying on explicit guidance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61D8C0-8A4C-BD27-FED3-39676CED36D0}"/>
              </a:ext>
            </a:extLst>
          </p:cNvPr>
          <p:cNvSpPr txBox="1">
            <a:spLocks/>
          </p:cNvSpPr>
          <p:nvPr/>
        </p:nvSpPr>
        <p:spPr>
          <a:xfrm>
            <a:off x="911834" y="4599206"/>
            <a:ext cx="2859089" cy="4145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/>
              <a:t>Explicit Guidance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97F803-DD66-F6FB-603D-77AA2BA13E94}"/>
              </a:ext>
            </a:extLst>
          </p:cNvPr>
          <p:cNvSpPr txBox="1">
            <a:spLocks/>
          </p:cNvSpPr>
          <p:nvPr/>
        </p:nvSpPr>
        <p:spPr>
          <a:xfrm>
            <a:off x="7254019" y="4599207"/>
            <a:ext cx="4159009" cy="4145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/>
              <a:t>Environmental Guidance </a:t>
            </a:r>
          </a:p>
        </p:txBody>
      </p:sp>
      <p:pic>
        <p:nvPicPr>
          <p:cNvPr id="8" name="Picture 7" descr="r/residentevil - So.. Why do people hate the yellow paint in modern Resident Evil games?">
            <a:extLst>
              <a:ext uri="{FF2B5EF4-FFF2-40B4-BE49-F238E27FC236}">
                <a16:creationId xmlns:a16="http://schemas.microsoft.com/office/drawing/2014/main" id="{77BA92EB-44D7-1278-B10E-DC85363BA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8" y="5087815"/>
            <a:ext cx="1976381" cy="1692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DDD86B-2815-1911-25BC-FDDB8AFFA4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550" y="5013709"/>
            <a:ext cx="3198814" cy="1784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B46FE9-FC78-B305-4D7A-3489683153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179475"/>
            <a:ext cx="3042981" cy="1584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B4119F-B13D-DDC4-3467-C517C218B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6089" y="5235245"/>
            <a:ext cx="2870683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96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7BBB-B505-962E-B8D5-5D429CD5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11" y="170075"/>
            <a:ext cx="10595281" cy="1400530"/>
          </a:xfrm>
        </p:spPr>
        <p:txBody>
          <a:bodyPr/>
          <a:lstStyle/>
          <a:p>
            <a:r>
              <a:rPr lang="en-GB" sz="4000" dirty="0"/>
              <a:t>Research and Development Approach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AA3DD-5585-1A5C-1BAF-4C71F1A29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571" y="4917663"/>
            <a:ext cx="5603633" cy="163920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05597-9F57-0B17-C81E-07623EC81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094" y="1159033"/>
            <a:ext cx="3882903" cy="823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Research</a:t>
            </a:r>
          </a:p>
          <a:p>
            <a:pPr marL="0" indent="0">
              <a:buNone/>
            </a:pPr>
            <a:r>
              <a:rPr lang="en-GB" sz="1800" dirty="0"/>
              <a:t>Literature &amp; Contextual research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66FB10B-C53C-322A-E322-BBC4D34BE45A}"/>
              </a:ext>
            </a:extLst>
          </p:cNvPr>
          <p:cNvSpPr txBox="1">
            <a:spLocks/>
          </p:cNvSpPr>
          <p:nvPr/>
        </p:nvSpPr>
        <p:spPr>
          <a:xfrm>
            <a:off x="1197093" y="2326689"/>
            <a:ext cx="3882903" cy="823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b="1" dirty="0"/>
              <a:t>Analysis</a:t>
            </a:r>
          </a:p>
          <a:p>
            <a:pPr marL="0" indent="0">
              <a:buFont typeface="Wingdings 3" charset="2"/>
              <a:buNone/>
            </a:pPr>
            <a:r>
              <a:rPr lang="en-GB" sz="1800" dirty="0"/>
              <a:t>Existing games + Guidance techniques 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B651783-5171-0040-3A78-09A0EE9B685E}"/>
              </a:ext>
            </a:extLst>
          </p:cNvPr>
          <p:cNvSpPr txBox="1">
            <a:spLocks/>
          </p:cNvSpPr>
          <p:nvPr/>
        </p:nvSpPr>
        <p:spPr>
          <a:xfrm>
            <a:off x="1197093" y="3494345"/>
            <a:ext cx="3882903" cy="823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b="1" dirty="0"/>
              <a:t>Development</a:t>
            </a:r>
          </a:p>
          <a:p>
            <a:pPr marL="0" indent="0">
              <a:buFont typeface="Wingdings 3" charset="2"/>
              <a:buNone/>
            </a:pPr>
            <a:r>
              <a:rPr lang="en-GB" sz="1800" dirty="0"/>
              <a:t>Three Unreal Engine 5 Prototypes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7DD4D80-F312-EB7D-DA82-825D286938F5}"/>
              </a:ext>
            </a:extLst>
          </p:cNvPr>
          <p:cNvSpPr txBox="1">
            <a:spLocks/>
          </p:cNvSpPr>
          <p:nvPr/>
        </p:nvSpPr>
        <p:spPr>
          <a:xfrm>
            <a:off x="1197095" y="4539359"/>
            <a:ext cx="3882903" cy="823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b="1" dirty="0"/>
              <a:t>Testing</a:t>
            </a:r>
          </a:p>
          <a:p>
            <a:pPr marL="0" indent="0">
              <a:buFont typeface="Wingdings 3" charset="2"/>
              <a:buNone/>
            </a:pPr>
            <a:r>
              <a:rPr lang="en-GB" sz="1800" dirty="0"/>
              <a:t>Player testing &amp; observation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74AB7F9F-5663-F4D8-9CFA-8F49DADAE53D}"/>
              </a:ext>
            </a:extLst>
          </p:cNvPr>
          <p:cNvSpPr txBox="1">
            <a:spLocks/>
          </p:cNvSpPr>
          <p:nvPr/>
        </p:nvSpPr>
        <p:spPr>
          <a:xfrm>
            <a:off x="1197094" y="5649523"/>
            <a:ext cx="4422167" cy="823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b="1" dirty="0"/>
              <a:t>Iteration</a:t>
            </a:r>
          </a:p>
          <a:p>
            <a:pPr marL="0" indent="0">
              <a:buFont typeface="Wingdings 3" charset="2"/>
              <a:buNone/>
            </a:pPr>
            <a:r>
              <a:rPr lang="en-GB" sz="1800" dirty="0"/>
              <a:t>Analysis -&gt; design changes -&gt; retesting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C2D8FF9-26B9-56AE-34D3-E1AC391FF58E}"/>
              </a:ext>
            </a:extLst>
          </p:cNvPr>
          <p:cNvSpPr/>
          <p:nvPr/>
        </p:nvSpPr>
        <p:spPr>
          <a:xfrm>
            <a:off x="2693067" y="2062859"/>
            <a:ext cx="445477" cy="3057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0D3E1BF-7D57-2D44-9E5B-8070BB3EF26D}"/>
              </a:ext>
            </a:extLst>
          </p:cNvPr>
          <p:cNvSpPr/>
          <p:nvPr/>
        </p:nvSpPr>
        <p:spPr>
          <a:xfrm>
            <a:off x="2693067" y="3169670"/>
            <a:ext cx="445477" cy="3057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AF2C454-3893-BF02-D099-FA5BADE611B5}"/>
              </a:ext>
            </a:extLst>
          </p:cNvPr>
          <p:cNvSpPr/>
          <p:nvPr/>
        </p:nvSpPr>
        <p:spPr>
          <a:xfrm>
            <a:off x="2693066" y="4377704"/>
            <a:ext cx="445477" cy="3057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94BD1B97-64A6-52E9-B2D7-E93AA23AECB1}"/>
              </a:ext>
            </a:extLst>
          </p:cNvPr>
          <p:cNvSpPr/>
          <p:nvPr/>
        </p:nvSpPr>
        <p:spPr>
          <a:xfrm>
            <a:off x="2713271" y="5431478"/>
            <a:ext cx="445477" cy="3057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75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63E9-477E-5C76-C6C3-4EABB8CA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1: Lighting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7424C-4E47-17EC-C2A0-9F127197B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663" y="1477683"/>
            <a:ext cx="11488614" cy="4927599"/>
          </a:xfrm>
        </p:spPr>
        <p:txBody>
          <a:bodyPr/>
          <a:lstStyle/>
          <a:p>
            <a:r>
              <a:rPr lang="en-GB" dirty="0"/>
              <a:t>What I investigated – Can lighting influence player direction and attract attention towards the intended route</a:t>
            </a:r>
          </a:p>
          <a:p>
            <a:r>
              <a:rPr lang="en-GB" dirty="0"/>
              <a:t>What I built – Video Walkthrough </a:t>
            </a:r>
          </a:p>
          <a:p>
            <a:r>
              <a:rPr lang="en-GB" dirty="0"/>
              <a:t>How it guides the player: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Contrast between light and dark areas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Brightness draws attention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Lighting creates a visual priority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dirty="0"/>
              <a:t>Player is encouraged to investigate the illuminated area</a:t>
            </a:r>
          </a:p>
          <a:p>
            <a:endParaRPr lang="en-GB" dirty="0"/>
          </a:p>
          <a:p>
            <a:r>
              <a:rPr lang="en-GB" dirty="0"/>
              <a:t>What I learned </a:t>
            </a:r>
          </a:p>
          <a:p>
            <a:r>
              <a:rPr lang="en-GB" dirty="0"/>
              <a:t>Lighting successfully attracted player attention, but its effectiveness was affected by the number and clarity of alternative routes </a:t>
            </a:r>
          </a:p>
        </p:txBody>
      </p:sp>
    </p:spTree>
    <p:extLst>
      <p:ext uri="{BB962C8B-B14F-4D97-AF65-F5344CB8AC3E}">
        <p14:creationId xmlns:p14="http://schemas.microsoft.com/office/powerpoint/2010/main" val="368144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66014B-002F-F2FE-EDD8-C7253BAD0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82" y="201155"/>
            <a:ext cx="6433944" cy="2504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67781A-46BE-4147-E0DA-842619B7C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87" t="4760" r="17824"/>
          <a:stretch>
            <a:fillRect/>
          </a:stretch>
        </p:blipFill>
        <p:spPr>
          <a:xfrm>
            <a:off x="6325548" y="1716204"/>
            <a:ext cx="5796654" cy="3200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556A91-9021-2A8F-0F7F-D3CC6C6D5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8" y="3316406"/>
            <a:ext cx="6095288" cy="348547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A5C1B893-7686-7E2A-3BFB-467655A9DDAB}"/>
              </a:ext>
            </a:extLst>
          </p:cNvPr>
          <p:cNvSpPr/>
          <p:nvPr/>
        </p:nvSpPr>
        <p:spPr>
          <a:xfrm rot="826468">
            <a:off x="5307649" y="1064079"/>
            <a:ext cx="1714874" cy="778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CBBD647-84B4-DF73-BCEA-075220C4AE72}"/>
              </a:ext>
            </a:extLst>
          </p:cNvPr>
          <p:cNvSpPr/>
          <p:nvPr/>
        </p:nvSpPr>
        <p:spPr>
          <a:xfrm rot="9977566">
            <a:off x="5387880" y="4432749"/>
            <a:ext cx="1714874" cy="778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269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6B2B-DDD6-757A-0ABE-18DC2159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95" y="179179"/>
            <a:ext cx="10178197" cy="1400530"/>
          </a:xfrm>
        </p:spPr>
        <p:txBody>
          <a:bodyPr/>
          <a:lstStyle/>
          <a:p>
            <a:r>
              <a:rPr lang="en-GB" dirty="0"/>
              <a:t>Prototype 2 – Architectural guidance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33170-9047-DA77-A3FB-86F52660E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170" y="1078523"/>
            <a:ext cx="10816492" cy="5462953"/>
          </a:xfrm>
        </p:spPr>
        <p:txBody>
          <a:bodyPr>
            <a:normAutofit/>
          </a:bodyPr>
          <a:lstStyle/>
          <a:p>
            <a:r>
              <a:rPr lang="en-GB" dirty="0"/>
              <a:t>Can the Structure and layout of an environment influence which route a player chooses?</a:t>
            </a:r>
          </a:p>
          <a:p>
            <a:endParaRPr lang="en-GB" dirty="0"/>
          </a:p>
          <a:p>
            <a:r>
              <a:rPr lang="en-GB" dirty="0"/>
              <a:t>Approach: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Path width – making one route feel more significant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Framing – drawing attention towards areas of interest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Visibility &amp; Reveals – Controlling what the player can see</a:t>
            </a:r>
          </a:p>
          <a:p>
            <a:endParaRPr lang="en-GB" dirty="0"/>
          </a:p>
          <a:p>
            <a:r>
              <a:rPr lang="en-GB" dirty="0"/>
              <a:t>Finding: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Architectural design successfully influenced route choice without explicitly telling players where to 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However, architectural cues can become strong enough to function as an obvious path</a:t>
            </a:r>
          </a:p>
        </p:txBody>
      </p:sp>
    </p:spTree>
    <p:extLst>
      <p:ext uri="{BB962C8B-B14F-4D97-AF65-F5344CB8AC3E}">
        <p14:creationId xmlns:p14="http://schemas.microsoft.com/office/powerpoint/2010/main" val="320611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445825-A323-C7D7-3872-4B1C88472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91" y="191669"/>
            <a:ext cx="5626621" cy="2365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5B037B-20E7-B45B-A646-01076C1F9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081" y="1797392"/>
            <a:ext cx="5822128" cy="27746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69141A-AA08-5B07-9D4C-171D590A4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90" y="3753863"/>
            <a:ext cx="5626621" cy="283246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55D585BE-1588-EC7E-81E6-F30EE2D491B5}"/>
              </a:ext>
            </a:extLst>
          </p:cNvPr>
          <p:cNvSpPr/>
          <p:nvPr/>
        </p:nvSpPr>
        <p:spPr>
          <a:xfrm rot="2222386">
            <a:off x="5173483" y="1967967"/>
            <a:ext cx="1714874" cy="778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76841AF-695D-0FC5-9330-C16972FFACD9}"/>
              </a:ext>
            </a:extLst>
          </p:cNvPr>
          <p:cNvSpPr/>
          <p:nvPr/>
        </p:nvSpPr>
        <p:spPr>
          <a:xfrm rot="8826079">
            <a:off x="5499154" y="4586112"/>
            <a:ext cx="1714874" cy="778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489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7034-7E2B-6B51-32F7-7AD641E5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2F990-5E58-E757-C367-451E60D5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26" y="155734"/>
            <a:ext cx="9263797" cy="930604"/>
          </a:xfrm>
        </p:spPr>
        <p:txBody>
          <a:bodyPr/>
          <a:lstStyle/>
          <a:p>
            <a:r>
              <a:rPr lang="en-GB" dirty="0"/>
              <a:t>Prototype 3 - Landmarks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44ED-4603-F27B-E7D9-C46B6A7F4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909" y="1297353"/>
            <a:ext cx="11390922" cy="5267569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Can distinctive environmental landmarks help players navigate and maintain orientation without defined routes?</a:t>
            </a:r>
          </a:p>
          <a:p>
            <a:r>
              <a:rPr lang="en-GB" dirty="0"/>
              <a:t>Initial Approach: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Large, recognisable landmarks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Water tower as visual reference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Players could use the landmark to understand direction and position </a:t>
            </a:r>
          </a:p>
          <a:p>
            <a:r>
              <a:rPr lang="en-GB" dirty="0"/>
              <a:t>What I discovered from testing was the initial environment still contained strong architectural guidance </a:t>
            </a:r>
          </a:p>
          <a:p>
            <a:r>
              <a:rPr lang="en-GB" dirty="0"/>
              <a:t>Iteration after testing: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Redesigned entire environment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Open terrain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Reduced routes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more environmental landmarks (Rivers, hills)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Retested</a:t>
            </a:r>
          </a:p>
          <a:p>
            <a:r>
              <a:rPr lang="en-GB" dirty="0"/>
              <a:t>As a result, players were able to now use the water tower as a reference point for orientation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96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D7DF1E-DD82-6009-8A3A-AAB4B60DD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498" y="1365260"/>
            <a:ext cx="3607657" cy="187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39E4F7-E8B3-186B-2EC4-361491640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263" y="4257260"/>
            <a:ext cx="6095999" cy="2097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CA4696-F657-0EE3-7B45-0D8B4D305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33" y="263761"/>
            <a:ext cx="4784820" cy="2041449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BCCDF77-8F88-454F-1DE5-0CEAC953FC53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890053" y="1075443"/>
            <a:ext cx="4213274" cy="28981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32FA5BB-5CB8-6D3C-574B-00FF37FF4F8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7936745" y="3090678"/>
            <a:ext cx="1012100" cy="132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405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D114-F04D-E719-3985-005B71AD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and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4308-9325-1D03-22EB-E6F8E1E7B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462" y="1383323"/>
            <a:ext cx="11574584" cy="529101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testers played the prototypes and were asked to navigate to the objective without explicit directional instructions</a:t>
            </a:r>
          </a:p>
          <a:p>
            <a:r>
              <a:rPr lang="en-GB" dirty="0"/>
              <a:t>What was measured: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Objective completion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Completion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Navigation confidence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Wrong turns/hesitation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Player Feedback</a:t>
            </a:r>
          </a:p>
          <a:p>
            <a:pPr lvl="1"/>
            <a:r>
              <a:rPr lang="en-GB" dirty="0"/>
              <a:t>Recorded Results </a:t>
            </a:r>
          </a:p>
          <a:p>
            <a:pPr lvl="1"/>
            <a:r>
              <a:rPr lang="en-GB" dirty="0"/>
              <a:t>Key Findings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Lighting</a:t>
            </a:r>
            <a:r>
              <a:rPr lang="en-GB" dirty="0"/>
              <a:t> – Successfully attracted player attention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Architecture</a:t>
            </a:r>
            <a:r>
              <a:rPr lang="en-GB" dirty="0"/>
              <a:t> – Strongest and most direct route influence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Landmarks</a:t>
            </a:r>
            <a:r>
              <a:rPr lang="en-GB" dirty="0"/>
              <a:t> – Initially difficult to isolate, but became more effective after removing competing routes</a:t>
            </a:r>
          </a:p>
          <a:p>
            <a:pPr lvl="1"/>
            <a:r>
              <a:rPr lang="en-GB" dirty="0"/>
              <a:t>The environment influenced navigation, but competing environmental cues could change how players interpreted the intended guidance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A2BEE86-7F6E-8CFA-7097-69DAB7CAFA1F}"/>
              </a:ext>
            </a:extLst>
          </p:cNvPr>
          <p:cNvCxnSpPr>
            <a:cxnSpLocks/>
          </p:cNvCxnSpPr>
          <p:nvPr/>
        </p:nvCxnSpPr>
        <p:spPr>
          <a:xfrm flipV="1">
            <a:off x="2422769" y="3216479"/>
            <a:ext cx="2272497" cy="15118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3730C37-477B-80C5-1D47-AF9EFD39D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266" y="2197021"/>
            <a:ext cx="7262272" cy="203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A982-2AF6-A96C-17D8-547C3B78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Research Findings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25584-F81C-4F64-00B8-7D8D5D20E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338" y="1594338"/>
            <a:ext cx="11199447" cy="4654062"/>
          </a:xfrm>
        </p:spPr>
        <p:txBody>
          <a:bodyPr/>
          <a:lstStyle/>
          <a:p>
            <a:r>
              <a:rPr lang="en-GB" dirty="0"/>
              <a:t>Lighting </a:t>
            </a:r>
          </a:p>
          <a:p>
            <a:pPr marL="0" indent="0">
              <a:buNone/>
            </a:pPr>
            <a:r>
              <a:rPr lang="en-GB" dirty="0"/>
              <a:t>Visual contrast and lighting can attract attention and influence where players look and move</a:t>
            </a:r>
          </a:p>
          <a:p>
            <a:r>
              <a:rPr lang="en-GB" dirty="0"/>
              <a:t>Architecture </a:t>
            </a:r>
          </a:p>
          <a:p>
            <a:pPr marL="0" indent="0">
              <a:buNone/>
            </a:pPr>
            <a:r>
              <a:rPr lang="en-GB" dirty="0"/>
              <a:t>Spatial configuration, paths, openness and enclose can influence how players interpret possible routes </a:t>
            </a:r>
          </a:p>
          <a:p>
            <a:r>
              <a:rPr lang="en-GB" dirty="0"/>
              <a:t>Landmarks</a:t>
            </a:r>
          </a:p>
          <a:p>
            <a:pPr marL="0" indent="0">
              <a:buNone/>
            </a:pPr>
            <a:r>
              <a:rPr lang="en-GB" dirty="0"/>
              <a:t>Distinctive environmental features can provide reference points that help players orient themselves and build an understanding of the space  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Effective environmental guidance should communicate direction without explicitly telling the player where to go</a:t>
            </a:r>
          </a:p>
        </p:txBody>
      </p:sp>
    </p:spTree>
    <p:extLst>
      <p:ext uri="{BB962C8B-B14F-4D97-AF65-F5344CB8AC3E}">
        <p14:creationId xmlns:p14="http://schemas.microsoft.com/office/powerpoint/2010/main" val="63232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E65F-047B-1D27-3CDD-577E9D2E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Audience and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C844-6721-1FFB-5AAC-732680A71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738" y="1414585"/>
            <a:ext cx="10605477" cy="518159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For Level Design:</a:t>
            </a:r>
          </a:p>
          <a:p>
            <a:pPr marL="0" indent="0">
              <a:buNone/>
            </a:pPr>
            <a:r>
              <a:rPr lang="en-GB" dirty="0"/>
              <a:t>Demonstrates how environmental elements can communicate direction without explicit navigation UI</a:t>
            </a:r>
          </a:p>
          <a:p>
            <a:r>
              <a:rPr lang="en-GB" dirty="0"/>
              <a:t>For Design Practice:</a:t>
            </a:r>
          </a:p>
          <a:p>
            <a:pPr marL="0" indent="0">
              <a:buNone/>
            </a:pPr>
            <a:r>
              <a:rPr lang="en-GB" dirty="0"/>
              <a:t>Shows the importance of controlling competing environmental cues when testing guidance techniques</a:t>
            </a:r>
          </a:p>
          <a:p>
            <a:r>
              <a:rPr lang="en-GB" dirty="0"/>
              <a:t>For My Personal Practice:</a:t>
            </a:r>
            <a:br>
              <a:rPr lang="en-GB" dirty="0"/>
            </a:br>
            <a:r>
              <a:rPr lang="en-GB" dirty="0"/>
              <a:t>Developed my ability 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Prototype level design ideas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Learn Guidance techniques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Analyse player behaviour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Iterate from evidence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Work with Unreal Engine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0436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1CEB-0641-6CD0-48DC-0D179CB5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67102-7AF4-D2BB-9226-EE74A5C68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563078"/>
            <a:ext cx="10421453" cy="4685322"/>
          </a:xfrm>
        </p:spPr>
        <p:txBody>
          <a:bodyPr>
            <a:normAutofit/>
          </a:bodyPr>
          <a:lstStyle/>
          <a:p>
            <a:r>
              <a:rPr lang="en-GB" dirty="0"/>
              <a:t>With More Time I would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Increase the amount of play testers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Test combinations – investigate how lighting, architecture and landmarks work together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Expand navigation scenarios – test different environments, routes and objectives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/>
              <a:t>Get Insights from industry professionals – Reach out to veteran designers for their opinions and feedback on the matter</a:t>
            </a:r>
          </a:p>
          <a:p>
            <a:endParaRPr lang="en-GB" dirty="0"/>
          </a:p>
          <a:p>
            <a:r>
              <a:rPr lang="en-GB" dirty="0"/>
              <a:t>The project showed me that effective player guidance is not simply about adding cues – it's about designing the entire environment around how those cues are interpreted</a:t>
            </a:r>
          </a:p>
        </p:txBody>
      </p:sp>
    </p:spTree>
    <p:extLst>
      <p:ext uri="{BB962C8B-B14F-4D97-AF65-F5344CB8AC3E}">
        <p14:creationId xmlns:p14="http://schemas.microsoft.com/office/powerpoint/2010/main" val="88901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C814-F783-48DD-BEEC-11C76BEF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 For Watching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9550-29D0-FD42-96D9-27DFE3DC3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Trello Board – </a:t>
            </a:r>
            <a:r>
              <a:rPr lang="en-GB" sz="1000" dirty="0"/>
              <a:t>https://trello.com/invite/b/6a8dbf73cd13ddd812e5e8ea/ATTI0c9e0e22041a4d7c73544a4dde8c6507347EF6A7/gam706</a:t>
            </a:r>
          </a:p>
          <a:p>
            <a:r>
              <a:rPr lang="en-GB" dirty="0"/>
              <a:t>GitHub Repository – </a:t>
            </a:r>
          </a:p>
          <a:p>
            <a:pPr marL="400050" lvl="1" indent="0">
              <a:buNone/>
            </a:pPr>
            <a:r>
              <a:rPr lang="en-GB" sz="1000" dirty="0"/>
              <a:t>https://github.com/Mdot5596/MA-Dissertation</a:t>
            </a:r>
          </a:p>
          <a:p>
            <a:r>
              <a:rPr lang="en-GB" dirty="0"/>
              <a:t>Portfolio Website – morganhodge.co.uk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86800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1984</TotalTime>
  <Words>777</Words>
  <Application>Microsoft Office PowerPoint</Application>
  <PresentationFormat>Widescreen</PresentationFormat>
  <Paragraphs>131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Century Gothic</vt:lpstr>
      <vt:lpstr>Courier New</vt:lpstr>
      <vt:lpstr>Wingdings 3</vt:lpstr>
      <vt:lpstr>Ion</vt:lpstr>
      <vt:lpstr>Environmental Guidance in Digital Games: Influencing Player Navigation Without Explicit Instruction  </vt:lpstr>
      <vt:lpstr>Context</vt:lpstr>
      <vt:lpstr>Research and Development Approach</vt:lpstr>
      <vt:lpstr>Prototype 1: Lighting</vt:lpstr>
      <vt:lpstr>PowerPoint Presentation</vt:lpstr>
      <vt:lpstr>Prototype 2 – Architectural guidance </vt:lpstr>
      <vt:lpstr>PowerPoint Presentation</vt:lpstr>
      <vt:lpstr>Prototype 3 - Landmarks</vt:lpstr>
      <vt:lpstr>PowerPoint Presentation</vt:lpstr>
      <vt:lpstr>Testing and Findings </vt:lpstr>
      <vt:lpstr>Research Findings </vt:lpstr>
      <vt:lpstr>Audience and Value</vt:lpstr>
      <vt:lpstr>Reflection and Future work</vt:lpstr>
      <vt:lpstr>Thank You For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 hodge</dc:creator>
  <cp:lastModifiedBy>morgan hodge</cp:lastModifiedBy>
  <cp:revision>32</cp:revision>
  <dcterms:created xsi:type="dcterms:W3CDTF">2026-08-20T14:07:00Z</dcterms:created>
  <dcterms:modified xsi:type="dcterms:W3CDTF">2026-09-07T20:56:54Z</dcterms:modified>
</cp:coreProperties>
</file>