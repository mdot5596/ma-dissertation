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833" r:id="rId1"/>
  </p:sldMasterIdLst>
  <p:notesMasterIdLst>
    <p:notesMasterId r:id="rId18"/>
  </p:notesMasterIdLst>
  <p:sldIdLst>
    <p:sldId id="256" r:id="rId2"/>
    <p:sldId id="261" r:id="rId3"/>
    <p:sldId id="262" r:id="rId4"/>
    <p:sldId id="263" r:id="rId5"/>
    <p:sldId id="276" r:id="rId6"/>
    <p:sldId id="264" r:id="rId7"/>
    <p:sldId id="275" r:id="rId8"/>
    <p:sldId id="265" r:id="rId9"/>
    <p:sldId id="273" r:id="rId10"/>
    <p:sldId id="267" r:id="rId11"/>
    <p:sldId id="268" r:id="rId12"/>
    <p:sldId id="269" r:id="rId13"/>
    <p:sldId id="270" r:id="rId14"/>
    <p:sldId id="277" r:id="rId15"/>
    <p:sldId id="272" r:id="rId16"/>
    <p:sldId id="271" r:id="rId1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0622" autoAdjust="0"/>
  </p:normalViewPr>
  <p:slideViewPr>
    <p:cSldViewPr snapToGrid="0">
      <p:cViewPr varScale="1">
        <p:scale>
          <a:sx n="98" d="100"/>
          <a:sy n="98" d="100"/>
        </p:scale>
        <p:origin x="1378"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F880E2C-1E86-4511-97AD-821548B9FFF4}" type="datetimeFigureOut">
              <a:rPr lang="en-GB" smtClean="0"/>
              <a:t>06/09/2026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8112599-D25F-4F23-BEB5-33F40CB732B6}" type="slidenum">
              <a:rPr lang="en-GB" smtClean="0"/>
              <a:t>‹#›</a:t>
            </a:fld>
            <a:endParaRPr lang="en-GB"/>
          </a:p>
        </p:txBody>
      </p:sp>
    </p:spTree>
    <p:extLst>
      <p:ext uri="{BB962C8B-B14F-4D97-AF65-F5344CB8AC3E}">
        <p14:creationId xmlns:p14="http://schemas.microsoft.com/office/powerpoint/2010/main" val="308547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Navigation is an important part of level design because players are constantly making decisions about where to go and what to investigate.</a:t>
            </a:r>
          </a:p>
          <a:p>
            <a:endParaRPr lang="en-GB" dirty="0"/>
          </a:p>
          <a:p>
            <a:r>
              <a:rPr lang="en-GB" dirty="0"/>
              <a:t>Games often make this easier through explicit guidance systems, such as objective markers, waypoints, arrows or mini-maps. While these are effective, they can reduce the amount of interpretation required from the player.</a:t>
            </a:r>
          </a:p>
          <a:p>
            <a:endParaRPr lang="en-GB" dirty="0"/>
          </a:p>
          <a:p>
            <a:r>
              <a:rPr lang="en-GB" dirty="0"/>
              <a:t>This led me to become interested in how much guidance can instead be communicated through the environment itself.</a:t>
            </a:r>
          </a:p>
          <a:p>
            <a:endParaRPr lang="en-GB" dirty="0"/>
          </a:p>
          <a:p>
            <a:r>
              <a:rPr lang="en-GB" dirty="0"/>
              <a:t>Rather than directly telling the player where to go, I wanted to investigate whether elements such as lighting, architecture and landmarks could influence their decisions while still allowing them to feel like they were navigating the world themselves.</a:t>
            </a:r>
          </a:p>
          <a:p>
            <a:endParaRPr lang="en-GB" dirty="0"/>
          </a:p>
        </p:txBody>
      </p:sp>
      <p:sp>
        <p:nvSpPr>
          <p:cNvPr id="4" name="Slide Number Placeholder 3"/>
          <p:cNvSpPr>
            <a:spLocks noGrp="1"/>
          </p:cNvSpPr>
          <p:nvPr>
            <p:ph type="sldNum" sz="quarter" idx="5"/>
          </p:nvPr>
        </p:nvSpPr>
        <p:spPr/>
        <p:txBody>
          <a:bodyPr/>
          <a:lstStyle/>
          <a:p>
            <a:fld id="{68112599-D25F-4F23-BEB5-33F40CB732B6}" type="slidenum">
              <a:rPr lang="en-GB" smtClean="0"/>
              <a:t>2</a:t>
            </a:fld>
            <a:endParaRPr lang="en-GB"/>
          </a:p>
        </p:txBody>
      </p:sp>
    </p:spTree>
    <p:extLst>
      <p:ext uri="{BB962C8B-B14F-4D97-AF65-F5344CB8AC3E}">
        <p14:creationId xmlns:p14="http://schemas.microsoft.com/office/powerpoint/2010/main" val="42281930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 approached the project as an iterative design investigation, combining research with practical experimentation.</a:t>
            </a:r>
          </a:p>
          <a:p>
            <a:r>
              <a:rPr lang="en-GB" dirty="0"/>
              <a:t>I began with literature and contextual research into player navigation and environmental guidance, alongside analysing how existing games guide players through their environments.</a:t>
            </a:r>
          </a:p>
          <a:p>
            <a:r>
              <a:rPr lang="en-GB" dirty="0"/>
              <a:t>I used this research to create a matrix of existing guidance techniques and identify three that I could investigate through practical prototypes.</a:t>
            </a:r>
          </a:p>
          <a:p>
            <a:r>
              <a:rPr lang="en-GB" dirty="0"/>
              <a:t>I then developed the three prototypes in Unreal Engine 5, with each one focusing on lighting, architecture or landmarks.</a:t>
            </a:r>
          </a:p>
          <a:p>
            <a:r>
              <a:rPr lang="en-GB" dirty="0"/>
              <a:t>After development, I carried out player testing to observe how people actually navigated the environments, rather than relying only on my own assumptions about whether the guidance worked.</a:t>
            </a:r>
          </a:p>
          <a:p>
            <a:r>
              <a:rPr lang="en-GB" dirty="0"/>
              <a:t>The results were then used to identify problems and make changes to the prototypes. The clearest example of this was the landmark prototype, which I redesigned after testing showed that players were still relying heavily on the environmental paths.</a:t>
            </a:r>
          </a:p>
          <a:p>
            <a:endParaRPr lang="en-GB" dirty="0"/>
          </a:p>
        </p:txBody>
      </p:sp>
      <p:sp>
        <p:nvSpPr>
          <p:cNvPr id="4" name="Slide Number Placeholder 3"/>
          <p:cNvSpPr>
            <a:spLocks noGrp="1"/>
          </p:cNvSpPr>
          <p:nvPr>
            <p:ph type="sldNum" sz="quarter" idx="5"/>
          </p:nvPr>
        </p:nvSpPr>
        <p:spPr/>
        <p:txBody>
          <a:bodyPr/>
          <a:lstStyle/>
          <a:p>
            <a:fld id="{68112599-D25F-4F23-BEB5-33F40CB732B6}" type="slidenum">
              <a:rPr lang="en-GB" smtClean="0"/>
              <a:t>3</a:t>
            </a:fld>
            <a:endParaRPr lang="en-GB"/>
          </a:p>
        </p:txBody>
      </p:sp>
    </p:spTree>
    <p:extLst>
      <p:ext uri="{BB962C8B-B14F-4D97-AF65-F5344CB8AC3E}">
        <p14:creationId xmlns:p14="http://schemas.microsoft.com/office/powerpoint/2010/main" val="205232407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first prototype investigated lighting as a method of environmental guidance.</a:t>
            </a:r>
          </a:p>
          <a:p>
            <a:r>
              <a:rPr lang="en-GB" dirty="0"/>
              <a:t>I wanted to see whether simply creating a visual point of interest through lighting could influence where a player chose to move, without giving them an explicit instruction.</a:t>
            </a:r>
          </a:p>
          <a:p>
            <a:r>
              <a:rPr lang="en-GB" dirty="0"/>
              <a:t>I created a dark woodland environment and used lighting to create a visual priority towards the intended area of the level.</a:t>
            </a:r>
          </a:p>
          <a:p>
            <a:r>
              <a:rPr lang="en-GB" dirty="0"/>
              <a:t>The testing suggested that this was effective at attracting attention. One tester specifically described being drawn towards the light first.</a:t>
            </a:r>
          </a:p>
          <a:p>
            <a:r>
              <a:rPr lang="en-GB" dirty="0"/>
              <a:t>However, the test also highlighted a limitation. Because the prototype had relatively few alternative routes, players did not necessarily experience much uncertainty about where to go.</a:t>
            </a:r>
          </a:p>
          <a:p>
            <a:r>
              <a:rPr lang="en-GB" dirty="0"/>
              <a:t>This showed me that the effectiveness of a guidance technique isn't just determined by the strength of the cue itself, but also by the environment surrounding it.</a:t>
            </a:r>
          </a:p>
          <a:p>
            <a:endParaRPr lang="en-GB" dirty="0"/>
          </a:p>
        </p:txBody>
      </p:sp>
      <p:sp>
        <p:nvSpPr>
          <p:cNvPr id="4" name="Slide Number Placeholder 3"/>
          <p:cNvSpPr>
            <a:spLocks noGrp="1"/>
          </p:cNvSpPr>
          <p:nvPr>
            <p:ph type="sldNum" sz="quarter" idx="5"/>
          </p:nvPr>
        </p:nvSpPr>
        <p:spPr/>
        <p:txBody>
          <a:bodyPr/>
          <a:lstStyle/>
          <a:p>
            <a:fld id="{68112599-D25F-4F23-BEB5-33F40CB732B6}" type="slidenum">
              <a:rPr lang="en-GB" smtClean="0"/>
              <a:t>4</a:t>
            </a:fld>
            <a:endParaRPr lang="en-GB"/>
          </a:p>
        </p:txBody>
      </p:sp>
    </p:spTree>
    <p:extLst>
      <p:ext uri="{BB962C8B-B14F-4D97-AF65-F5344CB8AC3E}">
        <p14:creationId xmlns:p14="http://schemas.microsoft.com/office/powerpoint/2010/main" val="258449201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second prototype focused on architectural guidance, looking at whether the structure and layout of an environment could influence player route choice.</a:t>
            </a:r>
          </a:p>
          <a:p>
            <a:r>
              <a:rPr lang="en-GB" dirty="0"/>
              <a:t>I used techniques such as differences in path width, compression and release, framing, and controlling what the player could see through the environment.</a:t>
            </a:r>
          </a:p>
          <a:p>
            <a:r>
              <a:rPr lang="en-GB" dirty="0"/>
              <a:t>The aim was to make certain routes feel more natural or significant without explicitly telling the player which direction to take.</a:t>
            </a:r>
          </a:p>
          <a:p>
            <a:r>
              <a:rPr lang="en-GB" dirty="0"/>
              <a:t>This prototype was particularly effective during testing. All of the recorded testers reached the objective, and the recorded completion time was also lower than the lighting prototype.</a:t>
            </a:r>
          </a:p>
          <a:p>
            <a:r>
              <a:rPr lang="en-GB" dirty="0"/>
              <a:t>However, I also found that these techniques can become quite obvious. If the environment creates a very clear road or path, the player may simply follow that structure rather than actively interpreting other environmental cues.</a:t>
            </a:r>
          </a:p>
          <a:p>
            <a:r>
              <a:rPr lang="en-GB" dirty="0"/>
              <a:t>This became particularly important when developing the landmark prototype.</a:t>
            </a:r>
          </a:p>
          <a:p>
            <a:endParaRPr lang="en-GB" dirty="0"/>
          </a:p>
        </p:txBody>
      </p:sp>
      <p:sp>
        <p:nvSpPr>
          <p:cNvPr id="4" name="Slide Number Placeholder 3"/>
          <p:cNvSpPr>
            <a:spLocks noGrp="1"/>
          </p:cNvSpPr>
          <p:nvPr>
            <p:ph type="sldNum" sz="quarter" idx="5"/>
          </p:nvPr>
        </p:nvSpPr>
        <p:spPr/>
        <p:txBody>
          <a:bodyPr/>
          <a:lstStyle/>
          <a:p>
            <a:fld id="{68112599-D25F-4F23-BEB5-33F40CB732B6}" type="slidenum">
              <a:rPr lang="en-GB" smtClean="0"/>
              <a:t>6</a:t>
            </a:fld>
            <a:endParaRPr lang="en-GB"/>
          </a:p>
        </p:txBody>
      </p:sp>
    </p:spTree>
    <p:extLst>
      <p:ext uri="{BB962C8B-B14F-4D97-AF65-F5344CB8AC3E}">
        <p14:creationId xmlns:p14="http://schemas.microsoft.com/office/powerpoint/2010/main" val="85817815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third prototype investigated landmarks as a way of helping players navigate and maintain a sense of orientation.</a:t>
            </a:r>
          </a:p>
          <a:p>
            <a:r>
              <a:rPr lang="en-GB" dirty="0"/>
              <a:t>I initially created an environment where players could use recognisable landmarks, particularly the water tower, to understand where they were and where they might want to go.</a:t>
            </a:r>
          </a:p>
          <a:p>
            <a:r>
              <a:rPr lang="en-GB" dirty="0"/>
              <a:t>However, the first round of testing exposed a problem with my design. Players were still able to rely heavily on the roads and paths within the environment. This meant I couldn't confidently say that the landmark was responsible for their navigation, because there were still strong architectural cues competing with it.</a:t>
            </a:r>
          </a:p>
          <a:p>
            <a:r>
              <a:rPr lang="en-GB" dirty="0"/>
              <a:t>Rather than treating this as a failed prototype, I used the feedback to redesign it. I removed the obvious routes and created a much more open environment, with the water tower acting as the primary visual reference.</a:t>
            </a:r>
          </a:p>
          <a:p>
            <a:r>
              <a:rPr lang="en-GB" dirty="0"/>
              <a:t>When I retested the prototype, players were able to use the water tower to orient themselves, suggesting that removing competing cues made the landmark guidance much more apparent.</a:t>
            </a:r>
          </a:p>
          <a:p>
            <a:endParaRPr lang="en-GB" dirty="0"/>
          </a:p>
        </p:txBody>
      </p:sp>
      <p:sp>
        <p:nvSpPr>
          <p:cNvPr id="4" name="Slide Number Placeholder 3"/>
          <p:cNvSpPr>
            <a:spLocks noGrp="1"/>
          </p:cNvSpPr>
          <p:nvPr>
            <p:ph type="sldNum" sz="quarter" idx="5"/>
          </p:nvPr>
        </p:nvSpPr>
        <p:spPr/>
        <p:txBody>
          <a:bodyPr/>
          <a:lstStyle/>
          <a:p>
            <a:fld id="{68112599-D25F-4F23-BEB5-33F40CB732B6}" type="slidenum">
              <a:rPr lang="en-GB" smtClean="0"/>
              <a:t>8</a:t>
            </a:fld>
            <a:endParaRPr lang="en-GB"/>
          </a:p>
        </p:txBody>
      </p:sp>
    </p:spTree>
    <p:extLst>
      <p:ext uri="{BB962C8B-B14F-4D97-AF65-F5344CB8AC3E}">
        <p14:creationId xmlns:p14="http://schemas.microsoft.com/office/powerpoint/2010/main" val="321727264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 tested the prototypes by asking players to navigate through each environment and reach the same type of objective, without giving them explicit directions.</a:t>
            </a:r>
          </a:p>
          <a:p>
            <a:r>
              <a:rPr lang="en-GB" dirty="0"/>
              <a:t>I recorded whether they reached the objective, their completion time, navigation confidence, and any wrong turns, hesitation or feedback they provided.</a:t>
            </a:r>
          </a:p>
          <a:p>
            <a:r>
              <a:rPr lang="en-GB" dirty="0"/>
              <a:t>The lighting and architecture prototypes both had full completion among the recorded testers. The architecture prototype had the fastest average recorded completion time at 28 seconds, compared with 52.7 seconds for lighting.</a:t>
            </a:r>
          </a:p>
          <a:p>
            <a:r>
              <a:rPr lang="en-GB" dirty="0"/>
              <a:t>The landmark prototype initially produced very different results. Testers were often relying on the roads and paths rather than the landmark itself, which led me to redesign the environment.</a:t>
            </a:r>
          </a:p>
          <a:p>
            <a:r>
              <a:rPr lang="en-GB" dirty="0"/>
              <a:t>After removing those competing routes, players were able to use the water tower as a reference point for orientation.</a:t>
            </a:r>
          </a:p>
          <a:p>
            <a:r>
              <a:rPr lang="en-GB" dirty="0"/>
              <a:t>Overall, the testing suggested that environmental guidance can influence navigation, but its effectiveness depends on the other cues present within the environment.</a:t>
            </a:r>
          </a:p>
          <a:p>
            <a:endParaRPr lang="en-GB" dirty="0"/>
          </a:p>
        </p:txBody>
      </p:sp>
      <p:sp>
        <p:nvSpPr>
          <p:cNvPr id="4" name="Slide Number Placeholder 3"/>
          <p:cNvSpPr>
            <a:spLocks noGrp="1"/>
          </p:cNvSpPr>
          <p:nvPr>
            <p:ph type="sldNum" sz="quarter" idx="5"/>
          </p:nvPr>
        </p:nvSpPr>
        <p:spPr/>
        <p:txBody>
          <a:bodyPr/>
          <a:lstStyle/>
          <a:p>
            <a:fld id="{68112599-D25F-4F23-BEB5-33F40CB732B6}" type="slidenum">
              <a:rPr lang="en-GB" smtClean="0"/>
              <a:t>10</a:t>
            </a:fld>
            <a:endParaRPr lang="en-GB"/>
          </a:p>
        </p:txBody>
      </p:sp>
    </p:spTree>
    <p:extLst>
      <p:ext uri="{BB962C8B-B14F-4D97-AF65-F5344CB8AC3E}">
        <p14:creationId xmlns:p14="http://schemas.microsoft.com/office/powerpoint/2010/main" val="287293573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54955" y="1447800"/>
            <a:ext cx="8825658" cy="3329581"/>
          </a:xfrm>
        </p:spPr>
        <p:txBody>
          <a:bodyPr anchor="b"/>
          <a:lstStyle>
            <a:lvl1pPr>
              <a:defRPr sz="7200"/>
            </a:lvl1pPr>
          </a:lstStyle>
          <a:p>
            <a:r>
              <a:rPr lang="en-GB"/>
              <a:t>Click to edit Master title style</a:t>
            </a:r>
            <a:endParaRPr lang="en-US" dirty="0"/>
          </a:p>
        </p:txBody>
      </p:sp>
      <p:sp>
        <p:nvSpPr>
          <p:cNvPr id="3" name="Subtitle 2"/>
          <p:cNvSpPr>
            <a:spLocks noGrp="1"/>
          </p:cNvSpPr>
          <p:nvPr>
            <p:ph type="subTitle" idx="1"/>
          </p:nvPr>
        </p:nvSpPr>
        <p:spPr>
          <a:xfrm>
            <a:off x="1154955" y="4777380"/>
            <a:ext cx="8825658" cy="861420"/>
          </a:xfrm>
        </p:spPr>
        <p:txBody>
          <a:bodyPr anchor="t"/>
          <a:lstStyle>
            <a:lvl1pPr marL="0" indent="0" algn="l">
              <a:buNone/>
              <a:defRPr cap="all">
                <a:solidFill>
                  <a:schemeClr val="bg2">
                    <a:lumMod val="40000"/>
                    <a:lumOff val="6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048BBD51-FD46-433A-BCDC-3AD25804D4B9}" type="datetimeFigureOut">
              <a:rPr lang="en-GB" smtClean="0"/>
              <a:t>06/09/2026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D2DCF62B-D725-40D0-A184-F381DA2B1C66}" type="slidenum">
              <a:rPr lang="en-GB" smtClean="0"/>
              <a:t>‹#›</a:t>
            </a:fld>
            <a:endParaRPr lang="en-GB"/>
          </a:p>
        </p:txBody>
      </p:sp>
    </p:spTree>
    <p:extLst>
      <p:ext uri="{BB962C8B-B14F-4D97-AF65-F5344CB8AC3E}">
        <p14:creationId xmlns:p14="http://schemas.microsoft.com/office/powerpoint/2010/main" val="327186544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3"/>
          <p:cNvSpPr>
            <a:spLocks noGrp="1"/>
          </p:cNvSpPr>
          <p:nvPr>
            <p:ph type="dt" sz="half" idx="10"/>
          </p:nvPr>
        </p:nvSpPr>
        <p:spPr/>
        <p:txBody>
          <a:bodyPr/>
          <a:lstStyle/>
          <a:p>
            <a:fld id="{048BBD51-FD46-433A-BCDC-3AD25804D4B9}" type="datetimeFigureOut">
              <a:rPr lang="en-GB" smtClean="0"/>
              <a:t>06/09/2026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D2DCF62B-D725-40D0-A184-F381DA2B1C66}" type="slidenum">
              <a:rPr lang="en-GB" smtClean="0"/>
              <a:t>‹#›</a:t>
            </a:fld>
            <a:endParaRPr lang="en-GB"/>
          </a:p>
        </p:txBody>
      </p:sp>
    </p:spTree>
    <p:extLst>
      <p:ext uri="{BB962C8B-B14F-4D97-AF65-F5344CB8AC3E}">
        <p14:creationId xmlns:p14="http://schemas.microsoft.com/office/powerpoint/2010/main" val="12357760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54956" y="2861733"/>
            <a:ext cx="8825657" cy="1915647"/>
          </a:xfrm>
        </p:spPr>
        <p:txBody>
          <a:bodyPr anchor="b"/>
          <a:lstStyle>
            <a:lvl1pPr algn="l">
              <a:defRPr sz="4000" b="0" cap="none"/>
            </a:lvl1pPr>
          </a:lstStyle>
          <a:p>
            <a:r>
              <a:rPr lang="en-GB"/>
              <a:t>Click to edit Master title style</a:t>
            </a:r>
            <a:endParaRPr lang="en-US" dirty="0"/>
          </a:p>
        </p:txBody>
      </p:sp>
      <p:sp>
        <p:nvSpPr>
          <p:cNvPr id="3" name="Text Placeholder 2"/>
          <p:cNvSpPr>
            <a:spLocks noGrp="1"/>
          </p:cNvSpPr>
          <p:nvPr>
            <p:ph type="body" idx="1"/>
          </p:nvPr>
        </p:nvSpPr>
        <p:spPr>
          <a:xfrm>
            <a:off x="1154955" y="4777381"/>
            <a:ext cx="8825658" cy="860400"/>
          </a:xfrm>
        </p:spPr>
        <p:txBody>
          <a:bodyPr anchor="t"/>
          <a:lstStyle>
            <a:lvl1pPr marL="0" indent="0" algn="l">
              <a:buNone/>
              <a:defRPr sz="2000" cap="all">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048BBD51-FD46-433A-BCDC-3AD25804D4B9}" type="datetimeFigureOut">
              <a:rPr lang="en-GB" smtClean="0"/>
              <a:t>06/09/2026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D2DCF62B-D725-40D0-A184-F381DA2B1C66}" type="slidenum">
              <a:rPr lang="en-GB" smtClean="0"/>
              <a:t>‹#›</a:t>
            </a:fld>
            <a:endParaRPr lang="en-GB"/>
          </a:p>
        </p:txBody>
      </p:sp>
    </p:spTree>
    <p:extLst>
      <p:ext uri="{BB962C8B-B14F-4D97-AF65-F5344CB8AC3E}">
        <p14:creationId xmlns:p14="http://schemas.microsoft.com/office/powerpoint/2010/main" val="37326913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1103312" y="2060575"/>
            <a:ext cx="4396339" cy="4195763"/>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5654493" y="2056092"/>
            <a:ext cx="4396341" cy="4200245"/>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048BBD51-FD46-433A-BCDC-3AD25804D4B9}" type="datetimeFigureOut">
              <a:rPr lang="en-GB" smtClean="0"/>
              <a:t>06/09/2026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D2DCF62B-D725-40D0-A184-F381DA2B1C66}" type="slidenum">
              <a:rPr lang="en-GB" smtClean="0"/>
              <a:t>‹#›</a:t>
            </a:fld>
            <a:endParaRPr lang="en-GB"/>
          </a:p>
        </p:txBody>
      </p:sp>
    </p:spTree>
    <p:extLst>
      <p:ext uri="{BB962C8B-B14F-4D97-AF65-F5344CB8AC3E}">
        <p14:creationId xmlns:p14="http://schemas.microsoft.com/office/powerpoint/2010/main" val="23012219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GB"/>
              <a:t>Click to edit Master title style</a:t>
            </a:r>
            <a:endParaRPr lang="en-US" dirty="0"/>
          </a:p>
        </p:txBody>
      </p:sp>
      <p:sp>
        <p:nvSpPr>
          <p:cNvPr id="3" name="Text Placeholder 2"/>
          <p:cNvSpPr>
            <a:spLocks noGrp="1"/>
          </p:cNvSpPr>
          <p:nvPr>
            <p:ph type="body" idx="1"/>
          </p:nvPr>
        </p:nvSpPr>
        <p:spPr>
          <a:xfrm>
            <a:off x="1103313" y="1905000"/>
            <a:ext cx="4396338"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1103312"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5654495" y="1905000"/>
            <a:ext cx="4396339"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5654495"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048BBD51-FD46-433A-BCDC-3AD25804D4B9}" type="datetimeFigureOut">
              <a:rPr lang="en-GB" smtClean="0"/>
              <a:t>06/09/2026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D2DCF62B-D725-40D0-A184-F381DA2B1C66}" type="slidenum">
              <a:rPr lang="en-GB" smtClean="0"/>
              <a:t>‹#›</a:t>
            </a:fld>
            <a:endParaRPr lang="en-GB"/>
          </a:p>
        </p:txBody>
      </p:sp>
    </p:spTree>
    <p:extLst>
      <p:ext uri="{BB962C8B-B14F-4D97-AF65-F5344CB8AC3E}">
        <p14:creationId xmlns:p14="http://schemas.microsoft.com/office/powerpoint/2010/main" val="337069847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7" name="Date Placeholder 2"/>
          <p:cNvSpPr>
            <a:spLocks noGrp="1"/>
          </p:cNvSpPr>
          <p:nvPr>
            <p:ph type="dt" sz="half" idx="10"/>
          </p:nvPr>
        </p:nvSpPr>
        <p:spPr/>
        <p:txBody>
          <a:bodyPr/>
          <a:lstStyle/>
          <a:p>
            <a:fld id="{048BBD51-FD46-433A-BCDC-3AD25804D4B9}" type="datetimeFigureOut">
              <a:rPr lang="en-GB" smtClean="0"/>
              <a:t>06/09/2026</a:t>
            </a:fld>
            <a:endParaRPr lang="en-GB"/>
          </a:p>
        </p:txBody>
      </p:sp>
      <p:sp>
        <p:nvSpPr>
          <p:cNvPr id="5" name="Footer Placeholder 3"/>
          <p:cNvSpPr>
            <a:spLocks noGrp="1"/>
          </p:cNvSpPr>
          <p:nvPr>
            <p:ph type="ftr" sz="quarter" idx="11"/>
          </p:nvPr>
        </p:nvSpPr>
        <p:spPr/>
        <p:txBody>
          <a:bodyPr/>
          <a:lstStyle/>
          <a:p>
            <a:endParaRPr lang="en-GB"/>
          </a:p>
        </p:txBody>
      </p:sp>
      <p:sp>
        <p:nvSpPr>
          <p:cNvPr id="6" name="Slide Number Placeholder 4"/>
          <p:cNvSpPr>
            <a:spLocks noGrp="1"/>
          </p:cNvSpPr>
          <p:nvPr>
            <p:ph type="sldNum" sz="quarter" idx="12"/>
          </p:nvPr>
        </p:nvSpPr>
        <p:spPr/>
        <p:txBody>
          <a:bodyPr/>
          <a:lstStyle/>
          <a:p>
            <a:fld id="{D2DCF62B-D725-40D0-A184-F381DA2B1C66}" type="slidenum">
              <a:rPr lang="en-GB" smtClean="0"/>
              <a:t>‹#›</a:t>
            </a:fld>
            <a:endParaRPr lang="en-GB"/>
          </a:p>
        </p:txBody>
      </p:sp>
    </p:spTree>
    <p:extLst>
      <p:ext uri="{BB962C8B-B14F-4D97-AF65-F5344CB8AC3E}">
        <p14:creationId xmlns:p14="http://schemas.microsoft.com/office/powerpoint/2010/main" val="186600041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7" name="Date Placeholder 1"/>
          <p:cNvSpPr>
            <a:spLocks noGrp="1"/>
          </p:cNvSpPr>
          <p:nvPr>
            <p:ph type="dt" sz="half" idx="10"/>
          </p:nvPr>
        </p:nvSpPr>
        <p:spPr/>
        <p:txBody>
          <a:bodyPr/>
          <a:lstStyle/>
          <a:p>
            <a:fld id="{048BBD51-FD46-433A-BCDC-3AD25804D4B9}" type="datetimeFigureOut">
              <a:rPr lang="en-GB" smtClean="0"/>
              <a:t>06/09/2026</a:t>
            </a:fld>
            <a:endParaRPr lang="en-GB"/>
          </a:p>
        </p:txBody>
      </p:sp>
      <p:sp>
        <p:nvSpPr>
          <p:cNvPr id="5" name="Footer Placeholder 2"/>
          <p:cNvSpPr>
            <a:spLocks noGrp="1"/>
          </p:cNvSpPr>
          <p:nvPr>
            <p:ph type="ftr" sz="quarter" idx="11"/>
          </p:nvPr>
        </p:nvSpPr>
        <p:spPr/>
        <p:txBody>
          <a:bodyPr/>
          <a:lstStyle/>
          <a:p>
            <a:endParaRPr lang="en-GB"/>
          </a:p>
        </p:txBody>
      </p:sp>
      <p:sp>
        <p:nvSpPr>
          <p:cNvPr id="6" name="Slide Number Placeholder 3"/>
          <p:cNvSpPr>
            <a:spLocks noGrp="1"/>
          </p:cNvSpPr>
          <p:nvPr>
            <p:ph type="sldNum" sz="quarter" idx="12"/>
          </p:nvPr>
        </p:nvSpPr>
        <p:spPr/>
        <p:txBody>
          <a:bodyPr/>
          <a:lstStyle/>
          <a:p>
            <a:fld id="{D2DCF62B-D725-40D0-A184-F381DA2B1C66}" type="slidenum">
              <a:rPr lang="en-GB" smtClean="0"/>
              <a:t>‹#›</a:t>
            </a:fld>
            <a:endParaRPr lang="en-GB"/>
          </a:p>
        </p:txBody>
      </p:sp>
    </p:spTree>
    <p:extLst>
      <p:ext uri="{BB962C8B-B14F-4D97-AF65-F5344CB8AC3E}">
        <p14:creationId xmlns:p14="http://schemas.microsoft.com/office/powerpoint/2010/main" val="40159656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3" y="1447800"/>
            <a:ext cx="3401064" cy="1447800"/>
          </a:xfrm>
        </p:spPr>
        <p:txBody>
          <a:bodyPr anchor="b"/>
          <a:lstStyle>
            <a:lvl1pPr algn="l">
              <a:defRPr sz="2400" b="0"/>
            </a:lvl1pPr>
          </a:lstStyle>
          <a:p>
            <a:r>
              <a:rPr lang="en-GB"/>
              <a:t>Click to edit Master title style</a:t>
            </a:r>
            <a:endParaRPr lang="en-US" dirty="0"/>
          </a:p>
        </p:txBody>
      </p:sp>
      <p:sp>
        <p:nvSpPr>
          <p:cNvPr id="3" name="Content Placeholder 2"/>
          <p:cNvSpPr>
            <a:spLocks noGrp="1"/>
          </p:cNvSpPr>
          <p:nvPr>
            <p:ph idx="1"/>
          </p:nvPr>
        </p:nvSpPr>
        <p:spPr>
          <a:xfrm>
            <a:off x="4784616" y="1447800"/>
            <a:ext cx="5195997" cy="4572000"/>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1154953" y="3129280"/>
            <a:ext cx="3401063" cy="2895599"/>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7" name="Date Placeholder 4"/>
          <p:cNvSpPr>
            <a:spLocks noGrp="1"/>
          </p:cNvSpPr>
          <p:nvPr>
            <p:ph type="dt" sz="half" idx="10"/>
          </p:nvPr>
        </p:nvSpPr>
        <p:spPr/>
        <p:txBody>
          <a:bodyPr/>
          <a:lstStyle/>
          <a:p>
            <a:fld id="{048BBD51-FD46-433A-BCDC-3AD25804D4B9}" type="datetimeFigureOut">
              <a:rPr lang="en-GB" smtClean="0"/>
              <a:t>06/09/2026</a:t>
            </a:fld>
            <a:endParaRPr lang="en-GB"/>
          </a:p>
        </p:txBody>
      </p:sp>
      <p:sp>
        <p:nvSpPr>
          <p:cNvPr id="5" name="Footer Placeholder 5"/>
          <p:cNvSpPr>
            <a:spLocks noGrp="1"/>
          </p:cNvSpPr>
          <p:nvPr>
            <p:ph type="ftr" sz="quarter" idx="11"/>
          </p:nvPr>
        </p:nvSpPr>
        <p:spPr/>
        <p:txBody>
          <a:bodyPr/>
          <a:lstStyle/>
          <a:p>
            <a:endParaRPr lang="en-GB"/>
          </a:p>
        </p:txBody>
      </p:sp>
      <p:sp>
        <p:nvSpPr>
          <p:cNvPr id="6" name="Slide Number Placeholder 6"/>
          <p:cNvSpPr>
            <a:spLocks noGrp="1"/>
          </p:cNvSpPr>
          <p:nvPr>
            <p:ph type="sldNum" sz="quarter" idx="12"/>
          </p:nvPr>
        </p:nvSpPr>
        <p:spPr/>
        <p:txBody>
          <a:bodyPr/>
          <a:lstStyle/>
          <a:p>
            <a:fld id="{D2DCF62B-D725-40D0-A184-F381DA2B1C66}" type="slidenum">
              <a:rPr lang="en-GB" smtClean="0"/>
              <a:t>‹#›</a:t>
            </a:fld>
            <a:endParaRPr lang="en-GB"/>
          </a:p>
        </p:txBody>
      </p:sp>
    </p:spTree>
    <p:extLst>
      <p:ext uri="{BB962C8B-B14F-4D97-AF65-F5344CB8AC3E}">
        <p14:creationId xmlns:p14="http://schemas.microsoft.com/office/powerpoint/2010/main" val="4399818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3907" y="1854192"/>
            <a:ext cx="5092906" cy="1574808"/>
          </a:xfrm>
        </p:spPr>
        <p:txBody>
          <a:bodyPr anchor="b">
            <a:normAutofit/>
          </a:bodyPr>
          <a:lstStyle>
            <a:lvl1pPr algn="l">
              <a:defRPr sz="3600" b="0"/>
            </a:lvl1pPr>
          </a:lstStyle>
          <a:p>
            <a:r>
              <a:rPr lang="en-GB"/>
              <a:t>Click to edit Master title style</a:t>
            </a:r>
            <a:endParaRPr lang="en-US" dirty="0"/>
          </a:p>
        </p:txBody>
      </p:sp>
      <p:sp>
        <p:nvSpPr>
          <p:cNvPr id="3" name="Picture Placeholder 2"/>
          <p:cNvSpPr>
            <a:spLocks noGrp="1" noChangeAspect="1"/>
          </p:cNvSpPr>
          <p:nvPr>
            <p:ph type="pic" idx="1"/>
          </p:nvPr>
        </p:nvSpPr>
        <p:spPr>
          <a:xfrm>
            <a:off x="6949546" y="1143000"/>
            <a:ext cx="3200400" cy="4572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GB"/>
              <a:t>Click icon to add picture</a:t>
            </a:r>
            <a:endParaRPr lang="en-US" dirty="0"/>
          </a:p>
        </p:txBody>
      </p:sp>
      <p:sp>
        <p:nvSpPr>
          <p:cNvPr id="4" name="Text Placeholder 3"/>
          <p:cNvSpPr>
            <a:spLocks noGrp="1"/>
          </p:cNvSpPr>
          <p:nvPr>
            <p:ph type="body" sz="half" idx="2"/>
          </p:nvPr>
        </p:nvSpPr>
        <p:spPr>
          <a:xfrm>
            <a:off x="1154954" y="3657600"/>
            <a:ext cx="5084979" cy="1371600"/>
          </a:xfrm>
        </p:spPr>
        <p:txBody>
          <a:bodyPr>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5" name="Date Placeholder 4"/>
          <p:cNvSpPr>
            <a:spLocks noGrp="1"/>
          </p:cNvSpPr>
          <p:nvPr>
            <p:ph type="dt" sz="half" idx="10"/>
          </p:nvPr>
        </p:nvSpPr>
        <p:spPr/>
        <p:txBody>
          <a:bodyPr/>
          <a:lstStyle/>
          <a:p>
            <a:fld id="{048BBD51-FD46-433A-BCDC-3AD25804D4B9}" type="datetimeFigureOut">
              <a:rPr lang="en-GB" smtClean="0"/>
              <a:t>06/09/2026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D2DCF62B-D725-40D0-A184-F381DA2B1C66}" type="slidenum">
              <a:rPr lang="en-GB" smtClean="0"/>
              <a:t>‹#›</a:t>
            </a:fld>
            <a:endParaRPr lang="en-GB"/>
          </a:p>
        </p:txBody>
      </p:sp>
    </p:spTree>
    <p:extLst>
      <p:ext uri="{BB962C8B-B14F-4D97-AF65-F5344CB8AC3E}">
        <p14:creationId xmlns:p14="http://schemas.microsoft.com/office/powerpoint/2010/main" val="14374256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6" y="4800587"/>
            <a:ext cx="8825657" cy="566738"/>
          </a:xfrm>
        </p:spPr>
        <p:txBody>
          <a:bodyPr anchor="b">
            <a:normAutofit/>
          </a:bodyPr>
          <a:lstStyle>
            <a:lvl1pPr algn="l">
              <a:defRPr sz="2400" b="0"/>
            </a:lvl1pPr>
          </a:lstStyle>
          <a:p>
            <a:r>
              <a:rPr lang="en-GB"/>
              <a:t>Click to edit Master title style</a:t>
            </a:r>
            <a:endParaRPr lang="en-US" dirty="0"/>
          </a:p>
        </p:txBody>
      </p:sp>
      <p:sp>
        <p:nvSpPr>
          <p:cNvPr id="3" name="Picture Placeholder 2"/>
          <p:cNvSpPr>
            <a:spLocks noGrp="1" noChangeAspect="1"/>
          </p:cNvSpPr>
          <p:nvPr>
            <p:ph type="pic" idx="1"/>
          </p:nvPr>
        </p:nvSpPr>
        <p:spPr>
          <a:xfrm>
            <a:off x="1154955" y="685800"/>
            <a:ext cx="8825658" cy="3640666"/>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GB"/>
              <a:t>Click icon to add picture</a:t>
            </a:r>
            <a:endParaRPr lang="en-US" dirty="0"/>
          </a:p>
        </p:txBody>
      </p:sp>
      <p:sp>
        <p:nvSpPr>
          <p:cNvPr id="4" name="Text Placeholder 3"/>
          <p:cNvSpPr>
            <a:spLocks noGrp="1"/>
          </p:cNvSpPr>
          <p:nvPr>
            <p:ph type="body" sz="half" idx="2"/>
          </p:nvPr>
        </p:nvSpPr>
        <p:spPr>
          <a:xfrm>
            <a:off x="1154956" y="5367325"/>
            <a:ext cx="8825656"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5" name="Date Placeholder 4"/>
          <p:cNvSpPr>
            <a:spLocks noGrp="1"/>
          </p:cNvSpPr>
          <p:nvPr>
            <p:ph type="dt" sz="half" idx="10"/>
          </p:nvPr>
        </p:nvSpPr>
        <p:spPr/>
        <p:txBody>
          <a:bodyPr/>
          <a:lstStyle/>
          <a:p>
            <a:fld id="{048BBD51-FD46-433A-BCDC-3AD25804D4B9}" type="datetimeFigureOut">
              <a:rPr lang="en-GB" smtClean="0"/>
              <a:t>06/09/2026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D2DCF62B-D725-40D0-A184-F381DA2B1C66}" type="slidenum">
              <a:rPr lang="en-GB" smtClean="0"/>
              <a:t>‹#›</a:t>
            </a:fld>
            <a:endParaRPr lang="en-GB"/>
          </a:p>
        </p:txBody>
      </p:sp>
    </p:spTree>
    <p:extLst>
      <p:ext uri="{BB962C8B-B14F-4D97-AF65-F5344CB8AC3E}">
        <p14:creationId xmlns:p14="http://schemas.microsoft.com/office/powerpoint/2010/main" val="32137117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4" y="1447800"/>
            <a:ext cx="8825659" cy="1981200"/>
          </a:xfrm>
        </p:spPr>
        <p:txBody>
          <a:bodyPr/>
          <a:lstStyle>
            <a:lvl1pPr>
              <a:defRPr sz="4800"/>
            </a:lvl1pPr>
          </a:lstStyle>
          <a:p>
            <a:r>
              <a:rPr lang="en-GB"/>
              <a:t>Click to edit Master title style</a:t>
            </a:r>
            <a:endParaRPr lang="en-US" dirty="0"/>
          </a:p>
        </p:txBody>
      </p:sp>
      <p:sp>
        <p:nvSpPr>
          <p:cNvPr id="8" name="Text Placeholder 3"/>
          <p:cNvSpPr>
            <a:spLocks noGrp="1"/>
          </p:cNvSpPr>
          <p:nvPr>
            <p:ph type="body" sz="half" idx="2"/>
          </p:nvPr>
        </p:nvSpPr>
        <p:spPr>
          <a:xfrm>
            <a:off x="1154954" y="3657600"/>
            <a:ext cx="8825659" cy="23622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4" name="Date Placeholder 3"/>
          <p:cNvSpPr>
            <a:spLocks noGrp="1"/>
          </p:cNvSpPr>
          <p:nvPr>
            <p:ph type="dt" sz="half" idx="10"/>
          </p:nvPr>
        </p:nvSpPr>
        <p:spPr/>
        <p:txBody>
          <a:bodyPr/>
          <a:lstStyle/>
          <a:p>
            <a:fld id="{048BBD51-FD46-433A-BCDC-3AD25804D4B9}" type="datetimeFigureOut">
              <a:rPr lang="en-GB" smtClean="0"/>
              <a:t>06/09/2026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D2DCF62B-D725-40D0-A184-F381DA2B1C66}" type="slidenum">
              <a:rPr lang="en-GB" smtClean="0"/>
              <a:t>‹#›</a:t>
            </a:fld>
            <a:endParaRPr lang="en-GB"/>
          </a:p>
        </p:txBody>
      </p:sp>
    </p:spTree>
    <p:extLst>
      <p:ext uri="{BB962C8B-B14F-4D97-AF65-F5344CB8AC3E}">
        <p14:creationId xmlns:p14="http://schemas.microsoft.com/office/powerpoint/2010/main" val="51734024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574801" y="1447800"/>
            <a:ext cx="7999315" cy="2323374"/>
          </a:xfrm>
        </p:spPr>
        <p:txBody>
          <a:bodyPr/>
          <a:lstStyle>
            <a:lvl1pPr>
              <a:defRPr sz="4800"/>
            </a:lvl1pPr>
          </a:lstStyle>
          <a:p>
            <a:r>
              <a:rPr lang="en-GB"/>
              <a:t>Click to edit Master title style</a:t>
            </a:r>
            <a:endParaRPr lang="en-US" dirty="0"/>
          </a:p>
        </p:txBody>
      </p:sp>
      <p:sp>
        <p:nvSpPr>
          <p:cNvPr id="11" name="Text Placeholder 3"/>
          <p:cNvSpPr>
            <a:spLocks noGrp="1"/>
          </p:cNvSpPr>
          <p:nvPr>
            <p:ph type="body" sz="half" idx="14"/>
          </p:nvPr>
        </p:nvSpPr>
        <p:spPr>
          <a:xfrm>
            <a:off x="1930400" y="3771174"/>
            <a:ext cx="7279649" cy="342174"/>
          </a:xfrm>
        </p:spPr>
        <p:txBody>
          <a:bodyPr vert="horz" lIns="91440" tIns="45720" rIns="91440" bIns="45720" rtlCol="0" anchor="t">
            <a:normAutofit/>
          </a:bodyPr>
          <a:lstStyle>
            <a:lvl1pPr marL="0" indent="0">
              <a:buNone/>
              <a:defRPr lang="en-US" sz="1400" b="0" i="0" kern="1200" cap="small" dirty="0">
                <a:solidFill>
                  <a:schemeClr val="bg2">
                    <a:lumMod val="40000"/>
                    <a:lumOff val="60000"/>
                  </a:schemeClr>
                </a:solidFill>
                <a:latin typeface="+mj-lt"/>
                <a:ea typeface="+mj-ea"/>
                <a:cs typeface="+mj-cs"/>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marL="0" lvl="0" indent="0">
              <a:buNone/>
            </a:pPr>
            <a:r>
              <a:rPr lang="en-GB"/>
              <a:t>Click to edit Master text styles</a:t>
            </a:r>
          </a:p>
        </p:txBody>
      </p:sp>
      <p:sp>
        <p:nvSpPr>
          <p:cNvPr id="10" name="Text Placeholder 3"/>
          <p:cNvSpPr>
            <a:spLocks noGrp="1"/>
          </p:cNvSpPr>
          <p:nvPr>
            <p:ph type="body" sz="half" idx="2"/>
          </p:nvPr>
        </p:nvSpPr>
        <p:spPr>
          <a:xfrm>
            <a:off x="1154954" y="4350657"/>
            <a:ext cx="8825659" cy="16764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4" name="Date Placeholder 3"/>
          <p:cNvSpPr>
            <a:spLocks noGrp="1"/>
          </p:cNvSpPr>
          <p:nvPr>
            <p:ph type="dt" sz="half" idx="10"/>
          </p:nvPr>
        </p:nvSpPr>
        <p:spPr/>
        <p:txBody>
          <a:bodyPr/>
          <a:lstStyle/>
          <a:p>
            <a:fld id="{048BBD51-FD46-433A-BCDC-3AD25804D4B9}" type="datetimeFigureOut">
              <a:rPr lang="en-GB" smtClean="0"/>
              <a:t>06/09/2026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D2DCF62B-D725-40D0-A184-F381DA2B1C66}" type="slidenum">
              <a:rPr lang="en-GB" smtClean="0"/>
              <a:t>‹#›</a:t>
            </a:fld>
            <a:endParaRPr lang="en-GB"/>
          </a:p>
        </p:txBody>
      </p:sp>
      <p:sp>
        <p:nvSpPr>
          <p:cNvPr id="12" name="TextBox 11"/>
          <p:cNvSpPr txBox="1"/>
          <p:nvPr/>
        </p:nvSpPr>
        <p:spPr>
          <a:xfrm>
            <a:off x="898295" y="971253"/>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dirty="0"/>
              <a:t>“</a:t>
            </a:r>
          </a:p>
        </p:txBody>
      </p:sp>
      <p:sp>
        <p:nvSpPr>
          <p:cNvPr id="15" name="TextBox 14"/>
          <p:cNvSpPr txBox="1"/>
          <p:nvPr/>
        </p:nvSpPr>
        <p:spPr>
          <a:xfrm>
            <a:off x="9330490" y="2613787"/>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dirty="0"/>
              <a:t>”</a:t>
            </a:r>
          </a:p>
        </p:txBody>
      </p:sp>
    </p:spTree>
    <p:extLst>
      <p:ext uri="{BB962C8B-B14F-4D97-AF65-F5344CB8AC3E}">
        <p14:creationId xmlns:p14="http://schemas.microsoft.com/office/powerpoint/2010/main" val="94380669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54954" y="3124201"/>
            <a:ext cx="8825660" cy="1653180"/>
          </a:xfrm>
        </p:spPr>
        <p:txBody>
          <a:bodyPr anchor="b"/>
          <a:lstStyle>
            <a:lvl1pPr algn="l">
              <a:defRPr sz="4000" b="0" cap="none"/>
            </a:lvl1pPr>
          </a:lstStyle>
          <a:p>
            <a:r>
              <a:rPr lang="en-GB"/>
              <a:t>Click to edit Master title style</a:t>
            </a:r>
            <a:endParaRPr lang="en-US" dirty="0"/>
          </a:p>
        </p:txBody>
      </p:sp>
      <p:sp>
        <p:nvSpPr>
          <p:cNvPr id="3" name="Text Placeholder 2"/>
          <p:cNvSpPr>
            <a:spLocks noGrp="1"/>
          </p:cNvSpPr>
          <p:nvPr>
            <p:ph type="body" idx="1"/>
          </p:nvPr>
        </p:nvSpPr>
        <p:spPr>
          <a:xfrm>
            <a:off x="1154954" y="4777381"/>
            <a:ext cx="8825659" cy="860400"/>
          </a:xfrm>
        </p:spPr>
        <p:txBody>
          <a:bodyPr anchor="t"/>
          <a:lstStyle>
            <a:lvl1pPr marL="0" indent="0" algn="l">
              <a:buNone/>
              <a:defRPr sz="2000" cap="none">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048BBD51-FD46-433A-BCDC-3AD25804D4B9}" type="datetimeFigureOut">
              <a:rPr lang="en-GB" smtClean="0"/>
              <a:t>06/09/2026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D2DCF62B-D725-40D0-A184-F381DA2B1C66}" type="slidenum">
              <a:rPr lang="en-GB" smtClean="0"/>
              <a:t>‹#›</a:t>
            </a:fld>
            <a:endParaRPr lang="en-GB"/>
          </a:p>
        </p:txBody>
      </p:sp>
    </p:spTree>
    <p:extLst>
      <p:ext uri="{BB962C8B-B14F-4D97-AF65-F5344CB8AC3E}">
        <p14:creationId xmlns:p14="http://schemas.microsoft.com/office/powerpoint/2010/main" val="308298333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GB"/>
              <a:t>Click to edit Master title style</a:t>
            </a:r>
            <a:endParaRPr lang="en-US" dirty="0"/>
          </a:p>
        </p:txBody>
      </p:sp>
      <p:sp>
        <p:nvSpPr>
          <p:cNvPr id="3" name="Text Placeholder 2"/>
          <p:cNvSpPr>
            <a:spLocks noGrp="1"/>
          </p:cNvSpPr>
          <p:nvPr>
            <p:ph type="body" idx="1"/>
          </p:nvPr>
        </p:nvSpPr>
        <p:spPr>
          <a:xfrm>
            <a:off x="632947" y="1981200"/>
            <a:ext cx="2946866"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16" name="Text Placeholder 3"/>
          <p:cNvSpPr>
            <a:spLocks noGrp="1"/>
          </p:cNvSpPr>
          <p:nvPr>
            <p:ph type="body" sz="half" idx="15"/>
          </p:nvPr>
        </p:nvSpPr>
        <p:spPr>
          <a:xfrm>
            <a:off x="652463" y="2667000"/>
            <a:ext cx="2927350"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5" name="Text Placeholder 4"/>
          <p:cNvSpPr>
            <a:spLocks noGrp="1"/>
          </p:cNvSpPr>
          <p:nvPr>
            <p:ph type="body" sz="quarter" idx="3"/>
          </p:nvPr>
        </p:nvSpPr>
        <p:spPr>
          <a:xfrm>
            <a:off x="3883659" y="1981200"/>
            <a:ext cx="2936241"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19" name="Text Placeholder 3"/>
          <p:cNvSpPr>
            <a:spLocks noGrp="1"/>
          </p:cNvSpPr>
          <p:nvPr>
            <p:ph type="body" sz="half" idx="16"/>
          </p:nvPr>
        </p:nvSpPr>
        <p:spPr>
          <a:xfrm>
            <a:off x="3873106" y="2667000"/>
            <a:ext cx="2946794"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14" name="Text Placeholder 4"/>
          <p:cNvSpPr>
            <a:spLocks noGrp="1"/>
          </p:cNvSpPr>
          <p:nvPr>
            <p:ph type="body" sz="quarter" idx="13"/>
          </p:nvPr>
        </p:nvSpPr>
        <p:spPr>
          <a:xfrm>
            <a:off x="7124700" y="1981200"/>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20" name="Text Placeholder 3"/>
          <p:cNvSpPr>
            <a:spLocks noGrp="1"/>
          </p:cNvSpPr>
          <p:nvPr>
            <p:ph type="body" sz="half" idx="17"/>
          </p:nvPr>
        </p:nvSpPr>
        <p:spPr>
          <a:xfrm>
            <a:off x="7124700" y="2667000"/>
            <a:ext cx="2932113"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cxnSp>
        <p:nvCxnSpPr>
          <p:cNvPr id="17" name="Straight Connector 16"/>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048BBD51-FD46-433A-BCDC-3AD25804D4B9}" type="datetimeFigureOut">
              <a:rPr lang="en-GB" smtClean="0"/>
              <a:t>06/09/2026</a:t>
            </a:fld>
            <a:endParaRPr lang="en-GB"/>
          </a:p>
        </p:txBody>
      </p:sp>
      <p:sp>
        <p:nvSpPr>
          <p:cNvPr id="4"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D2DCF62B-D725-40D0-A184-F381DA2B1C66}" type="slidenum">
              <a:rPr lang="en-GB" smtClean="0"/>
              <a:t>‹#›</a:t>
            </a:fld>
            <a:endParaRPr lang="en-GB"/>
          </a:p>
        </p:txBody>
      </p:sp>
    </p:spTree>
    <p:extLst>
      <p:ext uri="{BB962C8B-B14F-4D97-AF65-F5344CB8AC3E}">
        <p14:creationId xmlns:p14="http://schemas.microsoft.com/office/powerpoint/2010/main" val="87222963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GB"/>
              <a:t>Click to edit Master title style</a:t>
            </a:r>
            <a:endParaRPr lang="en-US" dirty="0"/>
          </a:p>
        </p:txBody>
      </p:sp>
      <p:sp>
        <p:nvSpPr>
          <p:cNvPr id="3" name="Text Placeholder 2"/>
          <p:cNvSpPr>
            <a:spLocks noGrp="1"/>
          </p:cNvSpPr>
          <p:nvPr>
            <p:ph type="body" idx="1"/>
          </p:nvPr>
        </p:nvSpPr>
        <p:spPr>
          <a:xfrm>
            <a:off x="652463" y="4250949"/>
            <a:ext cx="2940050"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29" name="Picture Placeholder 2"/>
          <p:cNvSpPr>
            <a:spLocks noGrp="1" noChangeAspect="1"/>
          </p:cNvSpPr>
          <p:nvPr>
            <p:ph type="pic" idx="15"/>
          </p:nvPr>
        </p:nvSpPr>
        <p:spPr>
          <a:xfrm>
            <a:off x="652463" y="2209800"/>
            <a:ext cx="2940050"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GB"/>
              <a:t>Click icon to add picture</a:t>
            </a:r>
            <a:endParaRPr lang="en-US" dirty="0"/>
          </a:p>
        </p:txBody>
      </p:sp>
      <p:sp>
        <p:nvSpPr>
          <p:cNvPr id="22" name="Text Placeholder 3"/>
          <p:cNvSpPr>
            <a:spLocks noGrp="1"/>
          </p:cNvSpPr>
          <p:nvPr>
            <p:ph type="body" sz="half" idx="18"/>
          </p:nvPr>
        </p:nvSpPr>
        <p:spPr>
          <a:xfrm>
            <a:off x="652463" y="4827211"/>
            <a:ext cx="2940050"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5" name="Text Placeholder 4"/>
          <p:cNvSpPr>
            <a:spLocks noGrp="1"/>
          </p:cNvSpPr>
          <p:nvPr>
            <p:ph type="body" sz="quarter" idx="3"/>
          </p:nvPr>
        </p:nvSpPr>
        <p:spPr>
          <a:xfrm>
            <a:off x="3889375" y="4250949"/>
            <a:ext cx="2930525"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30" name="Picture Placeholder 2"/>
          <p:cNvSpPr>
            <a:spLocks noGrp="1" noChangeAspect="1"/>
          </p:cNvSpPr>
          <p:nvPr>
            <p:ph type="pic" idx="21"/>
          </p:nvPr>
        </p:nvSpPr>
        <p:spPr>
          <a:xfrm>
            <a:off x="3889374" y="2209800"/>
            <a:ext cx="2930525"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GB"/>
              <a:t>Click icon to add picture</a:t>
            </a:r>
            <a:endParaRPr lang="en-US" dirty="0"/>
          </a:p>
        </p:txBody>
      </p:sp>
      <p:sp>
        <p:nvSpPr>
          <p:cNvPr id="23" name="Text Placeholder 3"/>
          <p:cNvSpPr>
            <a:spLocks noGrp="1"/>
          </p:cNvSpPr>
          <p:nvPr>
            <p:ph type="body" sz="half" idx="19"/>
          </p:nvPr>
        </p:nvSpPr>
        <p:spPr>
          <a:xfrm>
            <a:off x="3888022" y="4827210"/>
            <a:ext cx="2934406"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14" name="Text Placeholder 4"/>
          <p:cNvSpPr>
            <a:spLocks noGrp="1"/>
          </p:cNvSpPr>
          <p:nvPr>
            <p:ph type="body" sz="quarter" idx="13"/>
          </p:nvPr>
        </p:nvSpPr>
        <p:spPr>
          <a:xfrm>
            <a:off x="7124700" y="4250949"/>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31" name="Picture Placeholder 2"/>
          <p:cNvSpPr>
            <a:spLocks noGrp="1" noChangeAspect="1"/>
          </p:cNvSpPr>
          <p:nvPr>
            <p:ph type="pic" idx="22"/>
          </p:nvPr>
        </p:nvSpPr>
        <p:spPr>
          <a:xfrm>
            <a:off x="7124699" y="2209800"/>
            <a:ext cx="2932113"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GB"/>
              <a:t>Click icon to add picture</a:t>
            </a:r>
            <a:endParaRPr lang="en-US" dirty="0"/>
          </a:p>
        </p:txBody>
      </p:sp>
      <p:sp>
        <p:nvSpPr>
          <p:cNvPr id="24" name="Text Placeholder 3"/>
          <p:cNvSpPr>
            <a:spLocks noGrp="1"/>
          </p:cNvSpPr>
          <p:nvPr>
            <p:ph type="body" sz="half" idx="20"/>
          </p:nvPr>
        </p:nvSpPr>
        <p:spPr>
          <a:xfrm>
            <a:off x="7124575" y="4827208"/>
            <a:ext cx="2935997"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cxnSp>
        <p:nvCxnSpPr>
          <p:cNvPr id="19" name="Straight Connector 18"/>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048BBD51-FD46-433A-BCDC-3AD25804D4B9}" type="datetimeFigureOut">
              <a:rPr lang="en-GB" smtClean="0"/>
              <a:t>06/09/2026</a:t>
            </a:fld>
            <a:endParaRPr lang="en-GB"/>
          </a:p>
        </p:txBody>
      </p:sp>
      <p:sp>
        <p:nvSpPr>
          <p:cNvPr id="4"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D2DCF62B-D725-40D0-A184-F381DA2B1C66}" type="slidenum">
              <a:rPr lang="en-GB" smtClean="0"/>
              <a:t>‹#›</a:t>
            </a:fld>
            <a:endParaRPr lang="en-GB"/>
          </a:p>
        </p:txBody>
      </p:sp>
    </p:spTree>
    <p:extLst>
      <p:ext uri="{BB962C8B-B14F-4D97-AF65-F5344CB8AC3E}">
        <p14:creationId xmlns:p14="http://schemas.microsoft.com/office/powerpoint/2010/main" val="34202295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nchor="t" anchorCtr="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048BBD51-FD46-433A-BCDC-3AD25804D4B9}" type="datetimeFigureOut">
              <a:rPr lang="en-GB" smtClean="0"/>
              <a:t>06/09/2026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D2DCF62B-D725-40D0-A184-F381DA2B1C66}" type="slidenum">
              <a:rPr lang="en-GB" smtClean="0"/>
              <a:t>‹#›</a:t>
            </a:fld>
            <a:endParaRPr lang="en-GB"/>
          </a:p>
        </p:txBody>
      </p:sp>
    </p:spTree>
    <p:extLst>
      <p:ext uri="{BB962C8B-B14F-4D97-AF65-F5344CB8AC3E}">
        <p14:creationId xmlns:p14="http://schemas.microsoft.com/office/powerpoint/2010/main" val="425465312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304212" y="430213"/>
            <a:ext cx="1752601" cy="5826125"/>
          </a:xfrm>
        </p:spPr>
        <p:txBody>
          <a:bodyPr vert="eaVert" anchor="b" anchorCtr="0"/>
          <a:lstStyle/>
          <a:p>
            <a:r>
              <a:rPr lang="en-GB"/>
              <a:t>Click to edit Master title style</a:t>
            </a:r>
            <a:endParaRPr lang="en-US" dirty="0"/>
          </a:p>
        </p:txBody>
      </p:sp>
      <p:sp>
        <p:nvSpPr>
          <p:cNvPr id="3" name="Vertical Text Placeholder 2"/>
          <p:cNvSpPr>
            <a:spLocks noGrp="1"/>
          </p:cNvSpPr>
          <p:nvPr>
            <p:ph type="body" orient="vert" idx="1"/>
          </p:nvPr>
        </p:nvSpPr>
        <p:spPr>
          <a:xfrm>
            <a:off x="652463" y="887414"/>
            <a:ext cx="7423149" cy="5368924"/>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048BBD51-FD46-433A-BCDC-3AD25804D4B9}" type="datetimeFigureOut">
              <a:rPr lang="en-GB" smtClean="0"/>
              <a:t>06/09/2026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D2DCF62B-D725-40D0-A184-F381DA2B1C66}" type="slidenum">
              <a:rPr lang="en-GB" smtClean="0"/>
              <a:t>‹#›</a:t>
            </a:fld>
            <a:endParaRPr lang="en-GB"/>
          </a:p>
        </p:txBody>
      </p:sp>
    </p:spTree>
    <p:extLst>
      <p:ext uri="{BB962C8B-B14F-4D97-AF65-F5344CB8AC3E}">
        <p14:creationId xmlns:p14="http://schemas.microsoft.com/office/powerpoint/2010/main" val="289856164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cSld name="Title">
    <p:bg>
      <p:bgPr>
        <a:solidFill>
          <a:schemeClr val="bg2">
            <a:alpha val="60000"/>
          </a:schemeClr>
        </a:solidFill>
        <a:effectLst/>
      </p:bgPr>
    </p:bg>
    <p:spTree>
      <p:nvGrpSpPr>
        <p:cNvPr id="1" name=""/>
        <p:cNvGrpSpPr/>
        <p:nvPr/>
      </p:nvGrpSpPr>
      <p:grpSpPr>
        <a:xfrm>
          <a:off x="0" y="0"/>
          <a:ext cx="0" cy="0"/>
          <a:chOff x="0" y="0"/>
          <a:chExt cx="0" cy="0"/>
        </a:xfrm>
      </p:grpSpPr>
      <p:sp>
        <p:nvSpPr>
          <p:cNvPr id="23" name="Title 22">
            <a:extLst>
              <a:ext uri="{FF2B5EF4-FFF2-40B4-BE49-F238E27FC236}">
                <a16:creationId xmlns:a16="http://schemas.microsoft.com/office/drawing/2014/main" id="{0AD30B65-D9DC-054D-49C4-AE0D1ECCC6E1}"/>
              </a:ext>
            </a:extLst>
          </p:cNvPr>
          <p:cNvSpPr>
            <a:spLocks noGrp="1"/>
          </p:cNvSpPr>
          <p:nvPr>
            <p:ph type="title"/>
          </p:nvPr>
        </p:nvSpPr>
        <p:spPr>
          <a:xfrm>
            <a:off x="699660" y="1981200"/>
            <a:ext cx="5893516" cy="2921253"/>
          </a:xfrm>
        </p:spPr>
        <p:txBody>
          <a:bodyPr/>
          <a:lstStyle>
            <a:lvl1pPr>
              <a:defRPr sz="7200"/>
            </a:lvl1pPr>
          </a:lstStyle>
          <a:p>
            <a:r>
              <a:rPr lang="en-GB"/>
              <a:t>Click to edit Master title style</a:t>
            </a:r>
            <a:endParaRPr lang="en-US"/>
          </a:p>
        </p:txBody>
      </p:sp>
      <p:sp>
        <p:nvSpPr>
          <p:cNvPr id="25" name="Subtitle 2">
            <a:extLst>
              <a:ext uri="{FF2B5EF4-FFF2-40B4-BE49-F238E27FC236}">
                <a16:creationId xmlns:a16="http://schemas.microsoft.com/office/drawing/2014/main" id="{CC0B5DB4-20B0-BFB3-1DE8-15B9B681E2A9}"/>
              </a:ext>
            </a:extLst>
          </p:cNvPr>
          <p:cNvSpPr>
            <a:spLocks noGrp="1"/>
          </p:cNvSpPr>
          <p:nvPr>
            <p:ph type="subTitle" idx="1"/>
          </p:nvPr>
        </p:nvSpPr>
        <p:spPr>
          <a:xfrm>
            <a:off x="699659" y="4902454"/>
            <a:ext cx="4898036" cy="1243513"/>
          </a:xfrm>
        </p:spPr>
        <p:txBody>
          <a:bodyPr vert="horz" lIns="91440" tIns="45720" rIns="91440" bIns="45720" rtlCol="0" anchor="t">
            <a:normAutofit/>
          </a:bodyPr>
          <a:lstStyle>
            <a:lvl1pPr marL="0" indent="0">
              <a:lnSpc>
                <a:spcPct val="120000"/>
              </a:lnSpc>
              <a:spcBef>
                <a:spcPts val="0"/>
              </a:spcBef>
              <a:buNone/>
              <a:defRPr lang="en-US" sz="1600" cap="none" baseline="0" dirty="0"/>
            </a:lvl1pPr>
          </a:lstStyle>
          <a:p>
            <a:pPr lvl="0"/>
            <a:r>
              <a:rPr lang="en-GB"/>
              <a:t>Click to edit Master subtitle style</a:t>
            </a:r>
            <a:endParaRPr lang="en-US" dirty="0"/>
          </a:p>
        </p:txBody>
      </p:sp>
      <p:sp>
        <p:nvSpPr>
          <p:cNvPr id="5" name="Footer Placeholder 4">
            <a:extLst>
              <a:ext uri="{FF2B5EF4-FFF2-40B4-BE49-F238E27FC236}">
                <a16:creationId xmlns:a16="http://schemas.microsoft.com/office/drawing/2014/main" id="{E914ACD6-E7C3-5888-56A4-A5758B74BB58}"/>
              </a:ext>
            </a:extLst>
          </p:cNvPr>
          <p:cNvSpPr>
            <a:spLocks noGrp="1"/>
          </p:cNvSpPr>
          <p:nvPr>
            <p:ph type="ftr" sz="quarter" idx="11"/>
          </p:nvPr>
        </p:nvSpPr>
        <p:spPr>
          <a:xfrm>
            <a:off x="700790" y="251847"/>
            <a:ext cx="3256613" cy="365125"/>
          </a:xfrm>
        </p:spPr>
        <p:txBody>
          <a:bodyPr/>
          <a:lstStyle/>
          <a:p>
            <a:endParaRPr lang="en-GB"/>
          </a:p>
        </p:txBody>
      </p:sp>
      <p:sp>
        <p:nvSpPr>
          <p:cNvPr id="4" name="Date Placeholder 3">
            <a:extLst>
              <a:ext uri="{FF2B5EF4-FFF2-40B4-BE49-F238E27FC236}">
                <a16:creationId xmlns:a16="http://schemas.microsoft.com/office/drawing/2014/main" id="{E12BC67A-8ACB-271C-C3F7-FCA06B61BDDA}"/>
              </a:ext>
            </a:extLst>
          </p:cNvPr>
          <p:cNvSpPr>
            <a:spLocks noGrp="1"/>
          </p:cNvSpPr>
          <p:nvPr>
            <p:ph type="dt" sz="half" idx="10"/>
          </p:nvPr>
        </p:nvSpPr>
        <p:spPr>
          <a:xfrm>
            <a:off x="700790" y="6341919"/>
            <a:ext cx="1806461" cy="365125"/>
          </a:xfrm>
        </p:spPr>
        <p:txBody>
          <a:bodyPr/>
          <a:lstStyle>
            <a:lvl1pPr algn="l">
              <a:defRPr/>
            </a:lvl1pPr>
          </a:lstStyle>
          <a:p>
            <a:fld id="{048BBD51-FD46-433A-BCDC-3AD25804D4B9}" type="datetimeFigureOut">
              <a:rPr lang="en-GB" smtClean="0"/>
              <a:t>06/09/2026</a:t>
            </a:fld>
            <a:endParaRPr lang="en-GB"/>
          </a:p>
        </p:txBody>
      </p:sp>
      <p:sp>
        <p:nvSpPr>
          <p:cNvPr id="6" name="Slide Number Placeholder 5">
            <a:extLst>
              <a:ext uri="{FF2B5EF4-FFF2-40B4-BE49-F238E27FC236}">
                <a16:creationId xmlns:a16="http://schemas.microsoft.com/office/drawing/2014/main" id="{F687E34A-F1F5-10C0-05F1-52EBC543E68C}"/>
              </a:ext>
            </a:extLst>
          </p:cNvPr>
          <p:cNvSpPr>
            <a:spLocks noGrp="1"/>
          </p:cNvSpPr>
          <p:nvPr>
            <p:ph type="sldNum" sz="quarter" idx="12"/>
          </p:nvPr>
        </p:nvSpPr>
        <p:spPr/>
        <p:txBody>
          <a:bodyPr/>
          <a:lstStyle/>
          <a:p>
            <a:fld id="{D2DCF62B-D725-40D0-A184-F381DA2B1C66}" type="slidenum">
              <a:rPr lang="en-GB" smtClean="0"/>
              <a:t>‹#›</a:t>
            </a:fld>
            <a:endParaRPr lang="en-GB"/>
          </a:p>
        </p:txBody>
      </p:sp>
    </p:spTree>
    <p:extLst>
      <p:ext uri="{BB962C8B-B14F-4D97-AF65-F5344CB8AC3E}">
        <p14:creationId xmlns:p14="http://schemas.microsoft.com/office/powerpoint/2010/main" val="3551846061"/>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image" Target="../media/image3.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image" Target="../media/image5.png"/><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image" Target="../media/image4.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8" name="Picture 7"/>
          <p:cNvPicPr>
            <a:picLocks noChangeAspect="1"/>
          </p:cNvPicPr>
          <p:nvPr/>
        </p:nvPicPr>
        <p:blipFill rotWithShape="1">
          <a:blip r:embed="rId20">
            <a:extLst>
              <a:ext uri="{28A0092B-C50C-407E-A947-70E740481C1C}">
                <a14:useLocalDpi xmlns:a14="http://schemas.microsoft.com/office/drawing/2010/main" val="0"/>
              </a:ext>
            </a:extLst>
          </a:blip>
          <a:srcRect l="3613"/>
          <a:stretch/>
        </p:blipFill>
        <p:spPr>
          <a:xfrm>
            <a:off x="0" y="2669685"/>
            <a:ext cx="4037012" cy="4188315"/>
          </a:xfrm>
          <a:prstGeom prst="rect">
            <a:avLst/>
          </a:prstGeom>
        </p:spPr>
      </p:pic>
      <p:pic>
        <p:nvPicPr>
          <p:cNvPr id="7" name="Picture 6"/>
          <p:cNvPicPr>
            <a:picLocks noChangeAspect="1"/>
          </p:cNvPicPr>
          <p:nvPr/>
        </p:nvPicPr>
        <p:blipFill rotWithShape="1">
          <a:blip r:embed="rId21">
            <a:extLst>
              <a:ext uri="{28A0092B-C50C-407E-A947-70E740481C1C}">
                <a14:useLocalDpi xmlns:a14="http://schemas.microsoft.com/office/drawing/2010/main" val="0"/>
              </a:ext>
            </a:extLst>
          </a:blip>
          <a:srcRect l="35640"/>
          <a:stretch/>
        </p:blipFill>
        <p:spPr>
          <a:xfrm>
            <a:off x="0" y="2892347"/>
            <a:ext cx="1522412" cy="2365453"/>
          </a:xfrm>
          <a:prstGeom prst="rect">
            <a:avLst/>
          </a:prstGeom>
        </p:spPr>
      </p:pic>
      <p:sp>
        <p:nvSpPr>
          <p:cNvPr id="16" name="Oval 15"/>
          <p:cNvSpPr/>
          <p:nvPr/>
        </p:nvSpPr>
        <p:spPr>
          <a:xfrm>
            <a:off x="8609012" y="1676400"/>
            <a:ext cx="2819400" cy="2819400"/>
          </a:xfrm>
          <a:prstGeom prst="ellipse">
            <a:avLst/>
          </a:prstGeom>
          <a:gradFill flip="none" rotWithShape="1">
            <a:gsLst>
              <a:gs pos="0">
                <a:schemeClr val="bg2">
                  <a:lumMod val="60000"/>
                  <a:lumOff val="40000"/>
                  <a:alpha val="7000"/>
                </a:schemeClr>
              </a:gs>
              <a:gs pos="69000">
                <a:schemeClr val="bg2">
                  <a:lumMod val="60000"/>
                  <a:lumOff val="40000"/>
                  <a:alpha val="0"/>
                </a:schemeClr>
              </a:gs>
              <a:gs pos="36000">
                <a:schemeClr val="bg2">
                  <a:lumMod val="60000"/>
                  <a:lumOff val="40000"/>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GB"/>
          </a:p>
        </p:txBody>
      </p:sp>
      <p:pic>
        <p:nvPicPr>
          <p:cNvPr id="9" name="Picture 8"/>
          <p:cNvPicPr>
            <a:picLocks noChangeAspect="1"/>
          </p:cNvPicPr>
          <p:nvPr/>
        </p:nvPicPr>
        <p:blipFill rotWithShape="1">
          <a:blip r:embed="rId22">
            <a:extLst>
              <a:ext uri="{28A0092B-C50C-407E-A947-70E740481C1C}">
                <a14:useLocalDpi xmlns:a14="http://schemas.microsoft.com/office/drawing/2010/main" val="0"/>
              </a:ext>
            </a:extLst>
          </a:blip>
          <a:srcRect t="28813"/>
          <a:stretch/>
        </p:blipFill>
        <p:spPr>
          <a:xfrm>
            <a:off x="7999412" y="0"/>
            <a:ext cx="1603387" cy="1141407"/>
          </a:xfrm>
          <a:prstGeom prst="rect">
            <a:avLst/>
          </a:prstGeom>
        </p:spPr>
      </p:pic>
      <p:pic>
        <p:nvPicPr>
          <p:cNvPr id="10" name="Picture 9"/>
          <p:cNvPicPr>
            <a:picLocks noChangeAspect="1"/>
          </p:cNvPicPr>
          <p:nvPr/>
        </p:nvPicPr>
        <p:blipFill rotWithShape="1">
          <a:blip r:embed="rId23">
            <a:extLst>
              <a:ext uri="{28A0092B-C50C-407E-A947-70E740481C1C}">
                <a14:useLocalDpi xmlns:a14="http://schemas.microsoft.com/office/drawing/2010/main" val="0"/>
              </a:ext>
            </a:extLst>
          </a:blip>
          <a:srcRect b="23320"/>
          <a:stretch/>
        </p:blipFill>
        <p:spPr>
          <a:xfrm>
            <a:off x="8605878" y="6096000"/>
            <a:ext cx="993734" cy="762000"/>
          </a:xfrm>
          <a:prstGeom prst="rect">
            <a:avLst/>
          </a:prstGeom>
        </p:spPr>
      </p:pic>
      <p:sp>
        <p:nvSpPr>
          <p:cNvPr id="14" name="Rectangle 13"/>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a:lstStyle/>
          <a:p>
            <a:endParaRPr lang="en-GB"/>
          </a:p>
        </p:txBody>
      </p:sp>
      <p:sp>
        <p:nvSpPr>
          <p:cNvPr id="2" name="Title Placeholder 1"/>
          <p:cNvSpPr>
            <a:spLocks noGrp="1"/>
          </p:cNvSpPr>
          <p:nvPr>
            <p:ph type="title"/>
          </p:nvPr>
        </p:nvSpPr>
        <p:spPr>
          <a:xfrm>
            <a:off x="646111" y="452718"/>
            <a:ext cx="9404723" cy="1400530"/>
          </a:xfrm>
          <a:prstGeom prst="rect">
            <a:avLst/>
          </a:prstGeom>
        </p:spPr>
        <p:txBody>
          <a:bodyPr vert="horz" lIns="91440" tIns="45720" rIns="91440" bIns="45720" rtlCol="0" anchor="t">
            <a:noAutofit/>
          </a:bodyPr>
          <a:lstStyle/>
          <a:p>
            <a:r>
              <a:rPr lang="en-GB"/>
              <a:t>Click to edit Master title style</a:t>
            </a:r>
            <a:endParaRPr lang="en-US" dirty="0"/>
          </a:p>
        </p:txBody>
      </p:sp>
      <p:sp>
        <p:nvSpPr>
          <p:cNvPr id="3" name="Text Placeholder 2"/>
          <p:cNvSpPr>
            <a:spLocks noGrp="1"/>
          </p:cNvSpPr>
          <p:nvPr>
            <p:ph type="body" idx="1"/>
          </p:nvPr>
        </p:nvSpPr>
        <p:spPr>
          <a:xfrm>
            <a:off x="1103312" y="2052918"/>
            <a:ext cx="8946541" cy="4195481"/>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rot="5400000">
            <a:off x="10155639" y="1790701"/>
            <a:ext cx="990599" cy="304799"/>
          </a:xfrm>
          <a:prstGeom prst="rect">
            <a:avLst/>
          </a:prstGeom>
        </p:spPr>
        <p:txBody>
          <a:bodyPr vert="horz" lIns="91440" tIns="45720" rIns="91440" bIns="45720" rtlCol="0" anchor="t"/>
          <a:lstStyle>
            <a:lvl1pPr algn="l">
              <a:defRPr sz="1100" b="0" i="0">
                <a:solidFill>
                  <a:schemeClr val="tx1">
                    <a:tint val="75000"/>
                    <a:alpha val="60000"/>
                  </a:schemeClr>
                </a:solidFill>
              </a:defRPr>
            </a:lvl1pPr>
          </a:lstStyle>
          <a:p>
            <a:fld id="{048BBD51-FD46-433A-BCDC-3AD25804D4B9}" type="datetimeFigureOut">
              <a:rPr lang="en-GB" smtClean="0"/>
              <a:t>06/09/2026</a:t>
            </a:fld>
            <a:endParaRPr lang="en-GB"/>
          </a:p>
        </p:txBody>
      </p:sp>
      <p:sp>
        <p:nvSpPr>
          <p:cNvPr id="5" name="Footer Placeholder 4"/>
          <p:cNvSpPr>
            <a:spLocks noGrp="1"/>
          </p:cNvSpPr>
          <p:nvPr>
            <p:ph type="ftr" sz="quarter" idx="3"/>
          </p:nvPr>
        </p:nvSpPr>
        <p:spPr>
          <a:xfrm rot="5400000">
            <a:off x="8951573" y="3225297"/>
            <a:ext cx="3859795" cy="304801"/>
          </a:xfrm>
          <a:prstGeom prst="rect">
            <a:avLst/>
          </a:prstGeom>
        </p:spPr>
        <p:txBody>
          <a:bodyPr vert="horz" lIns="91440" tIns="45720" rIns="91440" bIns="45720" rtlCol="0" anchor="b"/>
          <a:lstStyle>
            <a:lvl1pPr algn="l">
              <a:defRPr sz="1100" b="0" i="0">
                <a:solidFill>
                  <a:schemeClr val="tx1">
                    <a:tint val="75000"/>
                    <a:alpha val="60000"/>
                  </a:schemeClr>
                </a:solidFill>
              </a:defRPr>
            </a:lvl1pPr>
          </a:lstStyle>
          <a:p>
            <a:endParaRPr lang="en-GB"/>
          </a:p>
        </p:txBody>
      </p:sp>
      <p:sp>
        <p:nvSpPr>
          <p:cNvPr id="6" name="Slide Number Placeholder 5"/>
          <p:cNvSpPr>
            <a:spLocks noGrp="1"/>
          </p:cNvSpPr>
          <p:nvPr>
            <p:ph type="sldNum" sz="quarter" idx="4"/>
          </p:nvPr>
        </p:nvSpPr>
        <p:spPr>
          <a:xfrm>
            <a:off x="10352540" y="295729"/>
            <a:ext cx="838199" cy="767687"/>
          </a:xfrm>
          <a:prstGeom prst="rect">
            <a:avLst/>
          </a:prstGeom>
        </p:spPr>
        <p:txBody>
          <a:bodyPr vert="horz" lIns="91440" tIns="45720" rIns="91440" bIns="45720" rtlCol="0" anchor="b"/>
          <a:lstStyle>
            <a:lvl1pPr algn="ctr">
              <a:defRPr sz="2800" b="0" i="0">
                <a:solidFill>
                  <a:schemeClr val="tx1">
                    <a:tint val="75000"/>
                  </a:schemeClr>
                </a:solidFill>
              </a:defRPr>
            </a:lvl1pPr>
          </a:lstStyle>
          <a:p>
            <a:fld id="{D2DCF62B-D725-40D0-A184-F381DA2B1C66}" type="slidenum">
              <a:rPr lang="en-GB" smtClean="0"/>
              <a:t>‹#›</a:t>
            </a:fld>
            <a:endParaRPr lang="en-GB"/>
          </a:p>
        </p:txBody>
      </p:sp>
    </p:spTree>
    <p:extLst>
      <p:ext uri="{BB962C8B-B14F-4D97-AF65-F5344CB8AC3E}">
        <p14:creationId xmlns:p14="http://schemas.microsoft.com/office/powerpoint/2010/main" val="2881861159"/>
      </p:ext>
    </p:extLst>
  </p:cSld>
  <p:clrMap bg1="dk1" tx1="lt1" bg2="dk2" tx2="lt2" accent1="accent1" accent2="accent2" accent3="accent3" accent4="accent4" accent5="accent5" accent6="accent6" hlink="hlink" folHlink="folHlink"/>
  <p:sldLayoutIdLst>
    <p:sldLayoutId id="2147483834" r:id="rId1"/>
    <p:sldLayoutId id="2147483835" r:id="rId2"/>
    <p:sldLayoutId id="2147483836" r:id="rId3"/>
    <p:sldLayoutId id="2147483837" r:id="rId4"/>
    <p:sldLayoutId id="2147483838" r:id="rId5"/>
    <p:sldLayoutId id="2147483839" r:id="rId6"/>
    <p:sldLayoutId id="2147483840" r:id="rId7"/>
    <p:sldLayoutId id="2147483841" r:id="rId8"/>
    <p:sldLayoutId id="2147483842" r:id="rId9"/>
    <p:sldLayoutId id="2147483843" r:id="rId10"/>
    <p:sldLayoutId id="2147483844" r:id="rId11"/>
    <p:sldLayoutId id="2147483845" r:id="rId12"/>
    <p:sldLayoutId id="2147483846" r:id="rId13"/>
    <p:sldLayoutId id="2147483847" r:id="rId14"/>
    <p:sldLayoutId id="2147483848" r:id="rId15"/>
    <p:sldLayoutId id="2147483849" r:id="rId16"/>
    <p:sldLayoutId id="2147483850" r:id="rId17"/>
    <p:sldLayoutId id="2147483851" r:id="rId18"/>
  </p:sldLayoutIdLst>
  <p:txStyles>
    <p:titleStyle>
      <a:lvl1pPr algn="l" defTabSz="457200" rtl="0" eaLnBrk="1" latinLnBrk="0" hangingPunct="1">
        <a:spcBef>
          <a:spcPct val="0"/>
        </a:spcBef>
        <a:buNone/>
        <a:defRPr sz="4200" b="0" i="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5pPr>
      <a:lvl6pPr marL="2506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Rectangle: Rounded Corners 29">
            <a:extLst>
              <a:ext uri="{FF2B5EF4-FFF2-40B4-BE49-F238E27FC236}">
                <a16:creationId xmlns:a16="http://schemas.microsoft.com/office/drawing/2014/main" id="{27AE09C1-C8EA-67BA-42DA-9A4185632879}"/>
              </a:ext>
            </a:extLst>
          </p:cNvPr>
          <p:cNvSpPr/>
          <p:nvPr/>
        </p:nvSpPr>
        <p:spPr>
          <a:xfrm>
            <a:off x="5246423" y="3553880"/>
            <a:ext cx="1868132" cy="284753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B329306F-AB39-C9EF-96BF-AFB9F9E03CA6}"/>
              </a:ext>
            </a:extLst>
          </p:cNvPr>
          <p:cNvSpPr>
            <a:spLocks noGrp="1"/>
          </p:cNvSpPr>
          <p:nvPr>
            <p:ph type="title"/>
          </p:nvPr>
        </p:nvSpPr>
        <p:spPr>
          <a:xfrm>
            <a:off x="503582" y="172279"/>
            <a:ext cx="10250558" cy="1127885"/>
          </a:xfrm>
        </p:spPr>
        <p:txBody>
          <a:bodyPr>
            <a:noAutofit/>
          </a:bodyPr>
          <a:lstStyle/>
          <a:p>
            <a:r>
              <a:rPr lang="en-GB" sz="2800" b="1" dirty="0"/>
              <a:t>Environmental Guidance in Digital Games: Influencing Player Navigation Without Explicit Instruction  </a:t>
            </a:r>
          </a:p>
        </p:txBody>
      </p:sp>
      <p:sp>
        <p:nvSpPr>
          <p:cNvPr id="3" name="Subtitle 2">
            <a:extLst>
              <a:ext uri="{FF2B5EF4-FFF2-40B4-BE49-F238E27FC236}">
                <a16:creationId xmlns:a16="http://schemas.microsoft.com/office/drawing/2014/main" id="{48231E6B-5F59-414C-E5FA-AED6A34E6065}"/>
              </a:ext>
            </a:extLst>
          </p:cNvPr>
          <p:cNvSpPr>
            <a:spLocks noGrp="1"/>
          </p:cNvSpPr>
          <p:nvPr>
            <p:ph type="subTitle" idx="1"/>
          </p:nvPr>
        </p:nvSpPr>
        <p:spPr>
          <a:xfrm>
            <a:off x="811696" y="1300164"/>
            <a:ext cx="10316817" cy="2768253"/>
          </a:xfrm>
        </p:spPr>
        <p:txBody>
          <a:bodyPr>
            <a:normAutofit/>
          </a:bodyPr>
          <a:lstStyle/>
          <a:p>
            <a:pPr algn="ctr"/>
            <a:r>
              <a:rPr lang="en-GB" sz="2000" dirty="0"/>
              <a:t>Morgan Hodge</a:t>
            </a:r>
          </a:p>
          <a:p>
            <a:pPr algn="ctr"/>
            <a:r>
              <a:rPr lang="en-GB" sz="1400" dirty="0"/>
              <a:t>MA Game Design</a:t>
            </a:r>
            <a:endParaRPr lang="en-GB" dirty="0"/>
          </a:p>
          <a:p>
            <a:pPr algn="l"/>
            <a:r>
              <a:rPr lang="en-GB" sz="2400" b="1" dirty="0"/>
              <a:t>Research Question:</a:t>
            </a:r>
          </a:p>
          <a:p>
            <a:r>
              <a:rPr lang="en-GB" sz="2000" dirty="0"/>
              <a:t>Which environmental design techniques are most effective at influencing player navigation and decision making without explicit guidance systems?</a:t>
            </a:r>
          </a:p>
          <a:p>
            <a:endParaRPr lang="en-GB" sz="1900" dirty="0"/>
          </a:p>
          <a:p>
            <a:pPr algn="l"/>
            <a:r>
              <a:rPr lang="en-GB" sz="2400" b="1" dirty="0"/>
              <a:t>Project Overview:</a:t>
            </a:r>
          </a:p>
          <a:p>
            <a:endParaRPr lang="en-GB" dirty="0"/>
          </a:p>
        </p:txBody>
      </p:sp>
      <p:sp>
        <p:nvSpPr>
          <p:cNvPr id="4" name="TextBox 3">
            <a:extLst>
              <a:ext uri="{FF2B5EF4-FFF2-40B4-BE49-F238E27FC236}">
                <a16:creationId xmlns:a16="http://schemas.microsoft.com/office/drawing/2014/main" id="{70A94771-E1BB-0876-1693-802380C10C33}"/>
              </a:ext>
            </a:extLst>
          </p:cNvPr>
          <p:cNvSpPr txBox="1"/>
          <p:nvPr/>
        </p:nvSpPr>
        <p:spPr>
          <a:xfrm>
            <a:off x="0" y="4777592"/>
            <a:ext cx="1517373" cy="400110"/>
          </a:xfrm>
          <a:prstGeom prst="rect">
            <a:avLst/>
          </a:prstGeom>
          <a:noFill/>
        </p:spPr>
        <p:txBody>
          <a:bodyPr wrap="square" rtlCol="0">
            <a:spAutoFit/>
          </a:bodyPr>
          <a:lstStyle/>
          <a:p>
            <a:r>
              <a:rPr lang="en-GB" sz="2000" b="1" dirty="0"/>
              <a:t>Research</a:t>
            </a:r>
          </a:p>
        </p:txBody>
      </p:sp>
      <p:sp>
        <p:nvSpPr>
          <p:cNvPr id="6" name="TextBox 5">
            <a:extLst>
              <a:ext uri="{FF2B5EF4-FFF2-40B4-BE49-F238E27FC236}">
                <a16:creationId xmlns:a16="http://schemas.microsoft.com/office/drawing/2014/main" id="{537E0297-15A5-021B-4D51-F5C839A3F081}"/>
              </a:ext>
            </a:extLst>
          </p:cNvPr>
          <p:cNvSpPr txBox="1"/>
          <p:nvPr/>
        </p:nvSpPr>
        <p:spPr>
          <a:xfrm>
            <a:off x="1570382" y="4642303"/>
            <a:ext cx="1430408" cy="707886"/>
          </a:xfrm>
          <a:prstGeom prst="rect">
            <a:avLst/>
          </a:prstGeom>
          <a:noFill/>
        </p:spPr>
        <p:txBody>
          <a:bodyPr wrap="square" rtlCol="0">
            <a:spAutoFit/>
          </a:bodyPr>
          <a:lstStyle/>
          <a:p>
            <a:r>
              <a:rPr lang="en-GB" sz="2000" b="1" dirty="0"/>
              <a:t>Research Question</a:t>
            </a:r>
          </a:p>
        </p:txBody>
      </p:sp>
      <p:sp>
        <p:nvSpPr>
          <p:cNvPr id="8" name="TextBox 7">
            <a:extLst>
              <a:ext uri="{FF2B5EF4-FFF2-40B4-BE49-F238E27FC236}">
                <a16:creationId xmlns:a16="http://schemas.microsoft.com/office/drawing/2014/main" id="{5FB4F615-E165-6CC3-6AE7-1BCEA67D9211}"/>
              </a:ext>
            </a:extLst>
          </p:cNvPr>
          <p:cNvSpPr txBox="1"/>
          <p:nvPr/>
        </p:nvSpPr>
        <p:spPr>
          <a:xfrm>
            <a:off x="3252994" y="4488415"/>
            <a:ext cx="1649896" cy="1015663"/>
          </a:xfrm>
          <a:prstGeom prst="rect">
            <a:avLst/>
          </a:prstGeom>
          <a:noFill/>
        </p:spPr>
        <p:txBody>
          <a:bodyPr wrap="square" rtlCol="0">
            <a:spAutoFit/>
          </a:bodyPr>
          <a:lstStyle/>
          <a:p>
            <a:r>
              <a:rPr lang="en-GB" sz="2000" b="1" dirty="0"/>
              <a:t>Existing Guidance Techniques</a:t>
            </a:r>
          </a:p>
        </p:txBody>
      </p:sp>
      <p:sp>
        <p:nvSpPr>
          <p:cNvPr id="10" name="TextBox 9">
            <a:extLst>
              <a:ext uri="{FF2B5EF4-FFF2-40B4-BE49-F238E27FC236}">
                <a16:creationId xmlns:a16="http://schemas.microsoft.com/office/drawing/2014/main" id="{3EFFCE27-35CF-88AE-466A-EC685CA35A0D}"/>
              </a:ext>
            </a:extLst>
          </p:cNvPr>
          <p:cNvSpPr txBox="1"/>
          <p:nvPr/>
        </p:nvSpPr>
        <p:spPr>
          <a:xfrm>
            <a:off x="5298800" y="3672807"/>
            <a:ext cx="1867730" cy="707886"/>
          </a:xfrm>
          <a:prstGeom prst="rect">
            <a:avLst/>
          </a:prstGeom>
          <a:noFill/>
        </p:spPr>
        <p:txBody>
          <a:bodyPr wrap="square" rtlCol="0">
            <a:spAutoFit/>
          </a:bodyPr>
          <a:lstStyle/>
          <a:p>
            <a:r>
              <a:rPr lang="en-GB" sz="2000" b="1" dirty="0"/>
              <a:t>Prototype 1 - Lighting</a:t>
            </a:r>
          </a:p>
        </p:txBody>
      </p:sp>
      <p:sp>
        <p:nvSpPr>
          <p:cNvPr id="12" name="TextBox 11">
            <a:extLst>
              <a:ext uri="{FF2B5EF4-FFF2-40B4-BE49-F238E27FC236}">
                <a16:creationId xmlns:a16="http://schemas.microsoft.com/office/drawing/2014/main" id="{9DE388B0-B3D0-5D6F-182A-0CBB77791715}"/>
              </a:ext>
            </a:extLst>
          </p:cNvPr>
          <p:cNvSpPr txBox="1"/>
          <p:nvPr/>
        </p:nvSpPr>
        <p:spPr>
          <a:xfrm>
            <a:off x="5298800" y="4642303"/>
            <a:ext cx="2085563" cy="707886"/>
          </a:xfrm>
          <a:prstGeom prst="rect">
            <a:avLst/>
          </a:prstGeom>
          <a:noFill/>
        </p:spPr>
        <p:txBody>
          <a:bodyPr wrap="square" rtlCol="0">
            <a:spAutoFit/>
          </a:bodyPr>
          <a:lstStyle/>
          <a:p>
            <a:r>
              <a:rPr lang="en-GB" sz="2000" b="1" dirty="0"/>
              <a:t>Prototype 2 - Architecture</a:t>
            </a:r>
          </a:p>
        </p:txBody>
      </p:sp>
      <p:sp>
        <p:nvSpPr>
          <p:cNvPr id="14" name="TextBox 13">
            <a:extLst>
              <a:ext uri="{FF2B5EF4-FFF2-40B4-BE49-F238E27FC236}">
                <a16:creationId xmlns:a16="http://schemas.microsoft.com/office/drawing/2014/main" id="{22541968-2146-C675-CCAF-9FE11A25082E}"/>
              </a:ext>
            </a:extLst>
          </p:cNvPr>
          <p:cNvSpPr txBox="1"/>
          <p:nvPr/>
        </p:nvSpPr>
        <p:spPr>
          <a:xfrm>
            <a:off x="5298800" y="5611799"/>
            <a:ext cx="1917428" cy="707886"/>
          </a:xfrm>
          <a:prstGeom prst="rect">
            <a:avLst/>
          </a:prstGeom>
          <a:noFill/>
        </p:spPr>
        <p:txBody>
          <a:bodyPr wrap="square" rtlCol="0">
            <a:spAutoFit/>
          </a:bodyPr>
          <a:lstStyle/>
          <a:p>
            <a:r>
              <a:rPr lang="en-GB" sz="2000" b="1" dirty="0"/>
              <a:t>Prototype 3 - Landmarks</a:t>
            </a:r>
          </a:p>
        </p:txBody>
      </p:sp>
      <p:sp>
        <p:nvSpPr>
          <p:cNvPr id="16" name="TextBox 15">
            <a:extLst>
              <a:ext uri="{FF2B5EF4-FFF2-40B4-BE49-F238E27FC236}">
                <a16:creationId xmlns:a16="http://schemas.microsoft.com/office/drawing/2014/main" id="{B3FDD001-FEE8-0D85-54F0-6597FF69EF13}"/>
              </a:ext>
            </a:extLst>
          </p:cNvPr>
          <p:cNvSpPr txBox="1"/>
          <p:nvPr/>
        </p:nvSpPr>
        <p:spPr>
          <a:xfrm>
            <a:off x="7535516" y="4796192"/>
            <a:ext cx="1689652" cy="400110"/>
          </a:xfrm>
          <a:prstGeom prst="rect">
            <a:avLst/>
          </a:prstGeom>
          <a:noFill/>
        </p:spPr>
        <p:txBody>
          <a:bodyPr wrap="square" rtlCol="0">
            <a:spAutoFit/>
          </a:bodyPr>
          <a:lstStyle/>
          <a:p>
            <a:r>
              <a:rPr lang="en-GB" sz="2000" b="1" dirty="0"/>
              <a:t>User testing</a:t>
            </a:r>
          </a:p>
        </p:txBody>
      </p:sp>
      <p:sp>
        <p:nvSpPr>
          <p:cNvPr id="18" name="TextBox 17">
            <a:extLst>
              <a:ext uri="{FF2B5EF4-FFF2-40B4-BE49-F238E27FC236}">
                <a16:creationId xmlns:a16="http://schemas.microsoft.com/office/drawing/2014/main" id="{87866EEC-7748-EE3D-7DEF-F8F2FD854B90}"/>
              </a:ext>
            </a:extLst>
          </p:cNvPr>
          <p:cNvSpPr txBox="1"/>
          <p:nvPr/>
        </p:nvSpPr>
        <p:spPr>
          <a:xfrm>
            <a:off x="9621078" y="4784392"/>
            <a:ext cx="2570922" cy="400110"/>
          </a:xfrm>
          <a:prstGeom prst="rect">
            <a:avLst/>
          </a:prstGeom>
          <a:noFill/>
        </p:spPr>
        <p:txBody>
          <a:bodyPr wrap="square" rtlCol="0">
            <a:spAutoFit/>
          </a:bodyPr>
          <a:lstStyle/>
          <a:p>
            <a:r>
              <a:rPr lang="en-GB" sz="2000" b="1" dirty="0"/>
              <a:t>Analysis &amp; Findings</a:t>
            </a:r>
          </a:p>
        </p:txBody>
      </p:sp>
      <p:sp>
        <p:nvSpPr>
          <p:cNvPr id="21" name="Arrow: Right 20">
            <a:extLst>
              <a:ext uri="{FF2B5EF4-FFF2-40B4-BE49-F238E27FC236}">
                <a16:creationId xmlns:a16="http://schemas.microsoft.com/office/drawing/2014/main" id="{A9AFB56D-5CB7-938A-DD44-E66A64D3AE53}"/>
              </a:ext>
            </a:extLst>
          </p:cNvPr>
          <p:cNvSpPr/>
          <p:nvPr/>
        </p:nvSpPr>
        <p:spPr>
          <a:xfrm>
            <a:off x="1318178" y="4824704"/>
            <a:ext cx="292794" cy="343083"/>
          </a:xfrm>
          <a:prstGeom prst="rightArrow">
            <a:avLst/>
          </a:prstGeom>
          <a:solidFill>
            <a:schemeClr val="tx2">
              <a:lumMod val="1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Arrow: Right 22">
            <a:extLst>
              <a:ext uri="{FF2B5EF4-FFF2-40B4-BE49-F238E27FC236}">
                <a16:creationId xmlns:a16="http://schemas.microsoft.com/office/drawing/2014/main" id="{90A74D1B-5438-768D-8CAC-B25399C40586}"/>
              </a:ext>
            </a:extLst>
          </p:cNvPr>
          <p:cNvSpPr/>
          <p:nvPr/>
        </p:nvSpPr>
        <p:spPr>
          <a:xfrm>
            <a:off x="2905951" y="4849495"/>
            <a:ext cx="292794" cy="343083"/>
          </a:xfrm>
          <a:prstGeom prst="rightArrow">
            <a:avLst/>
          </a:prstGeom>
          <a:solidFill>
            <a:schemeClr val="tx2">
              <a:lumMod val="1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 name="Arrow: Right 24">
            <a:extLst>
              <a:ext uri="{FF2B5EF4-FFF2-40B4-BE49-F238E27FC236}">
                <a16:creationId xmlns:a16="http://schemas.microsoft.com/office/drawing/2014/main" id="{AD16C94A-1223-C068-C515-B7AE33C52BAA}"/>
              </a:ext>
            </a:extLst>
          </p:cNvPr>
          <p:cNvSpPr/>
          <p:nvPr/>
        </p:nvSpPr>
        <p:spPr>
          <a:xfrm>
            <a:off x="4902890" y="4904217"/>
            <a:ext cx="292794" cy="343083"/>
          </a:xfrm>
          <a:prstGeom prst="rightArrow">
            <a:avLst/>
          </a:prstGeom>
          <a:solidFill>
            <a:schemeClr val="tx2">
              <a:lumMod val="1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Arrow: Right 26">
            <a:extLst>
              <a:ext uri="{FF2B5EF4-FFF2-40B4-BE49-F238E27FC236}">
                <a16:creationId xmlns:a16="http://schemas.microsoft.com/office/drawing/2014/main" id="{A3E8D182-60AB-F714-022B-9DC6A62B15C4}"/>
              </a:ext>
            </a:extLst>
          </p:cNvPr>
          <p:cNvSpPr/>
          <p:nvPr/>
        </p:nvSpPr>
        <p:spPr>
          <a:xfrm>
            <a:off x="7195518" y="4857274"/>
            <a:ext cx="292794" cy="343083"/>
          </a:xfrm>
          <a:prstGeom prst="rightArrow">
            <a:avLst/>
          </a:prstGeom>
          <a:solidFill>
            <a:schemeClr val="tx2">
              <a:lumMod val="1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Arrow: Right 28">
            <a:extLst>
              <a:ext uri="{FF2B5EF4-FFF2-40B4-BE49-F238E27FC236}">
                <a16:creationId xmlns:a16="http://schemas.microsoft.com/office/drawing/2014/main" id="{B1E29E9E-7E83-E20A-FEBD-4E1B7584CA85}"/>
              </a:ext>
            </a:extLst>
          </p:cNvPr>
          <p:cNvSpPr/>
          <p:nvPr/>
        </p:nvSpPr>
        <p:spPr>
          <a:xfrm>
            <a:off x="9252493" y="4849495"/>
            <a:ext cx="292794" cy="343083"/>
          </a:xfrm>
          <a:prstGeom prst="rightArrow">
            <a:avLst/>
          </a:prstGeom>
          <a:solidFill>
            <a:schemeClr val="tx2">
              <a:lumMod val="1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7022417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73C8E9-AEAA-DF85-3BB9-4555730935D4}"/>
              </a:ext>
            </a:extLst>
          </p:cNvPr>
          <p:cNvSpPr>
            <a:spLocks noGrp="1"/>
          </p:cNvSpPr>
          <p:nvPr>
            <p:ph type="title"/>
          </p:nvPr>
        </p:nvSpPr>
        <p:spPr>
          <a:xfrm>
            <a:off x="4303712" y="93785"/>
            <a:ext cx="2511304" cy="829005"/>
          </a:xfrm>
        </p:spPr>
        <p:txBody>
          <a:bodyPr/>
          <a:lstStyle/>
          <a:p>
            <a:r>
              <a:rPr lang="en-GB" dirty="0"/>
              <a:t>Context</a:t>
            </a:r>
          </a:p>
        </p:txBody>
      </p:sp>
      <p:sp>
        <p:nvSpPr>
          <p:cNvPr id="3" name="Content Placeholder 2">
            <a:extLst>
              <a:ext uri="{FF2B5EF4-FFF2-40B4-BE49-F238E27FC236}">
                <a16:creationId xmlns:a16="http://schemas.microsoft.com/office/drawing/2014/main" id="{4A152D00-E6FF-74B2-328F-72444F038CF0}"/>
              </a:ext>
            </a:extLst>
          </p:cNvPr>
          <p:cNvSpPr>
            <a:spLocks noGrp="1"/>
          </p:cNvSpPr>
          <p:nvPr>
            <p:ph idx="1"/>
          </p:nvPr>
        </p:nvSpPr>
        <p:spPr>
          <a:xfrm>
            <a:off x="458182" y="1015999"/>
            <a:ext cx="10681307" cy="3790461"/>
          </a:xfrm>
        </p:spPr>
        <p:txBody>
          <a:bodyPr>
            <a:normAutofit fontScale="85000" lnSpcReduction="20000"/>
          </a:bodyPr>
          <a:lstStyle/>
          <a:p>
            <a:r>
              <a:rPr lang="en-GB" dirty="0"/>
              <a:t>Player Navigation is a fundamental part of level design</a:t>
            </a:r>
          </a:p>
          <a:p>
            <a:r>
              <a:rPr lang="en-GB" dirty="0"/>
              <a:t>Players are constantly making decisions about where to go, what to investigate and which route to take</a:t>
            </a:r>
          </a:p>
          <a:p>
            <a:r>
              <a:rPr lang="en-GB" dirty="0"/>
              <a:t>Many games support this through explicit systems such as: </a:t>
            </a:r>
          </a:p>
          <a:p>
            <a:pPr marL="857250" lvl="1" indent="-457200">
              <a:buFont typeface="+mj-lt"/>
              <a:buAutoNum type="arabicPeriod"/>
            </a:pPr>
            <a:r>
              <a:rPr lang="en-GB" dirty="0"/>
              <a:t>Objective markers</a:t>
            </a:r>
          </a:p>
          <a:p>
            <a:pPr marL="857250" lvl="1" indent="-457200">
              <a:buFont typeface="+mj-lt"/>
              <a:buAutoNum type="arabicPeriod"/>
            </a:pPr>
            <a:r>
              <a:rPr lang="en-GB" dirty="0"/>
              <a:t>Waypoints</a:t>
            </a:r>
          </a:p>
          <a:p>
            <a:pPr marL="857250" lvl="1" indent="-457200">
              <a:buFont typeface="+mj-lt"/>
              <a:buAutoNum type="arabicPeriod"/>
            </a:pPr>
            <a:r>
              <a:rPr lang="en-GB" dirty="0"/>
              <a:t>Arrows</a:t>
            </a:r>
          </a:p>
          <a:p>
            <a:pPr marL="857250" lvl="1" indent="-457200">
              <a:buFont typeface="+mj-lt"/>
              <a:buAutoNum type="arabicPeriod"/>
            </a:pPr>
            <a:r>
              <a:rPr lang="en-GB" dirty="0"/>
              <a:t>Mini Maps</a:t>
            </a:r>
          </a:p>
          <a:p>
            <a:r>
              <a:rPr lang="en-GB" dirty="0"/>
              <a:t>However, these systems can reduce the need for the players to interpret the environment themselves</a:t>
            </a:r>
          </a:p>
          <a:p>
            <a:r>
              <a:rPr lang="en-GB" dirty="0"/>
              <a:t>This project explores whether environmental design can communicate direction and influence player decision without relying on explicit guidance </a:t>
            </a:r>
          </a:p>
        </p:txBody>
      </p:sp>
      <p:sp>
        <p:nvSpPr>
          <p:cNvPr id="5" name="Title 1">
            <a:extLst>
              <a:ext uri="{FF2B5EF4-FFF2-40B4-BE49-F238E27FC236}">
                <a16:creationId xmlns:a16="http://schemas.microsoft.com/office/drawing/2014/main" id="{A361D8C0-8A4C-BD27-FED3-39676CED36D0}"/>
              </a:ext>
            </a:extLst>
          </p:cNvPr>
          <p:cNvSpPr txBox="1">
            <a:spLocks/>
          </p:cNvSpPr>
          <p:nvPr/>
        </p:nvSpPr>
        <p:spPr>
          <a:xfrm>
            <a:off x="911834" y="4599206"/>
            <a:ext cx="2859089" cy="414503"/>
          </a:xfrm>
          <a:prstGeom prst="rect">
            <a:avLst/>
          </a:prstGeom>
        </p:spPr>
        <p:txBody>
          <a:bodyPr vert="horz" lIns="91440" tIns="45720" rIns="91440" bIns="45720" rtlCol="0" anchor="t">
            <a:noAutofit/>
          </a:bodyPr>
          <a:lstStyle>
            <a:lvl1pPr algn="l" defTabSz="457200" rtl="0" eaLnBrk="1" latinLnBrk="0" hangingPunct="1">
              <a:spcBef>
                <a:spcPct val="0"/>
              </a:spcBef>
              <a:buNone/>
              <a:defRPr sz="4200" b="0" i="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GB" sz="2400" dirty="0"/>
              <a:t>Explicit Guidance </a:t>
            </a:r>
          </a:p>
        </p:txBody>
      </p:sp>
      <p:sp>
        <p:nvSpPr>
          <p:cNvPr id="7" name="Title 1">
            <a:extLst>
              <a:ext uri="{FF2B5EF4-FFF2-40B4-BE49-F238E27FC236}">
                <a16:creationId xmlns:a16="http://schemas.microsoft.com/office/drawing/2014/main" id="{AA97F803-DD66-F6FB-603D-77AA2BA13E94}"/>
              </a:ext>
            </a:extLst>
          </p:cNvPr>
          <p:cNvSpPr txBox="1">
            <a:spLocks/>
          </p:cNvSpPr>
          <p:nvPr/>
        </p:nvSpPr>
        <p:spPr>
          <a:xfrm>
            <a:off x="7254019" y="4599207"/>
            <a:ext cx="4159009" cy="414503"/>
          </a:xfrm>
          <a:prstGeom prst="rect">
            <a:avLst/>
          </a:prstGeom>
        </p:spPr>
        <p:txBody>
          <a:bodyPr vert="horz" lIns="91440" tIns="45720" rIns="91440" bIns="45720" rtlCol="0" anchor="t">
            <a:noAutofit/>
          </a:bodyPr>
          <a:lstStyle>
            <a:lvl1pPr algn="l" defTabSz="457200" rtl="0" eaLnBrk="1" latinLnBrk="0" hangingPunct="1">
              <a:spcBef>
                <a:spcPct val="0"/>
              </a:spcBef>
              <a:buNone/>
              <a:defRPr sz="4200" b="0" i="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GB" sz="2400" dirty="0"/>
              <a:t>Environmental Guidance </a:t>
            </a:r>
          </a:p>
        </p:txBody>
      </p:sp>
      <p:pic>
        <p:nvPicPr>
          <p:cNvPr id="8" name="Picture 7" descr="r/residentevil - So.. Why do people hate the yellow paint in modern Resident Evil games?">
            <a:extLst>
              <a:ext uri="{FF2B5EF4-FFF2-40B4-BE49-F238E27FC236}">
                <a16:creationId xmlns:a16="http://schemas.microsoft.com/office/drawing/2014/main" id="{77BA92EB-44D7-1278-B10E-DC85363BA426}"/>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75228" y="5087815"/>
            <a:ext cx="1976381" cy="1692031"/>
          </a:xfrm>
          <a:prstGeom prst="rect">
            <a:avLst/>
          </a:prstGeom>
          <a:noFill/>
          <a:ln>
            <a:noFill/>
          </a:ln>
        </p:spPr>
      </p:pic>
      <p:pic>
        <p:nvPicPr>
          <p:cNvPr id="9" name="Picture 8">
            <a:extLst>
              <a:ext uri="{FF2B5EF4-FFF2-40B4-BE49-F238E27FC236}">
                <a16:creationId xmlns:a16="http://schemas.microsoft.com/office/drawing/2014/main" id="{FDDDD86B-2815-1911-25BC-FDDB8AFFA48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360550" y="5013709"/>
            <a:ext cx="3198814" cy="1784827"/>
          </a:xfrm>
          <a:prstGeom prst="rect">
            <a:avLst/>
          </a:prstGeom>
        </p:spPr>
      </p:pic>
      <p:pic>
        <p:nvPicPr>
          <p:cNvPr id="11" name="Picture 10">
            <a:extLst>
              <a:ext uri="{FF2B5EF4-FFF2-40B4-BE49-F238E27FC236}">
                <a16:creationId xmlns:a16="http://schemas.microsoft.com/office/drawing/2014/main" id="{7FB46FE9-FC78-B305-4D7A-348968315331}"/>
              </a:ext>
            </a:extLst>
          </p:cNvPr>
          <p:cNvPicPr>
            <a:picLocks noChangeAspect="1"/>
          </p:cNvPicPr>
          <p:nvPr/>
        </p:nvPicPr>
        <p:blipFill>
          <a:blip r:embed="rId5"/>
          <a:stretch>
            <a:fillRect/>
          </a:stretch>
        </p:blipFill>
        <p:spPr>
          <a:xfrm>
            <a:off x="6096000" y="5179475"/>
            <a:ext cx="3042981" cy="1584740"/>
          </a:xfrm>
          <a:prstGeom prst="rect">
            <a:avLst/>
          </a:prstGeom>
        </p:spPr>
      </p:pic>
      <p:pic>
        <p:nvPicPr>
          <p:cNvPr id="13" name="Picture 12">
            <a:extLst>
              <a:ext uri="{FF2B5EF4-FFF2-40B4-BE49-F238E27FC236}">
                <a16:creationId xmlns:a16="http://schemas.microsoft.com/office/drawing/2014/main" id="{91B4119F-B13D-DDC4-3467-C517C218B4DF}"/>
              </a:ext>
            </a:extLst>
          </p:cNvPr>
          <p:cNvPicPr>
            <a:picLocks noChangeAspect="1"/>
          </p:cNvPicPr>
          <p:nvPr/>
        </p:nvPicPr>
        <p:blipFill>
          <a:blip r:embed="rId6"/>
          <a:stretch>
            <a:fillRect/>
          </a:stretch>
        </p:blipFill>
        <p:spPr>
          <a:xfrm>
            <a:off x="9246089" y="5235245"/>
            <a:ext cx="2870683" cy="1473200"/>
          </a:xfrm>
          <a:prstGeom prst="rect">
            <a:avLst/>
          </a:prstGeom>
        </p:spPr>
      </p:pic>
    </p:spTree>
    <p:extLst>
      <p:ext uri="{BB962C8B-B14F-4D97-AF65-F5344CB8AC3E}">
        <p14:creationId xmlns:p14="http://schemas.microsoft.com/office/powerpoint/2010/main" val="125796333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1C7BBB-B505-962E-B8D5-5D429CD55995}"/>
              </a:ext>
            </a:extLst>
          </p:cNvPr>
          <p:cNvSpPr>
            <a:spLocks noGrp="1"/>
          </p:cNvSpPr>
          <p:nvPr>
            <p:ph type="title"/>
          </p:nvPr>
        </p:nvSpPr>
        <p:spPr>
          <a:xfrm>
            <a:off x="119611" y="170075"/>
            <a:ext cx="10595281" cy="1400530"/>
          </a:xfrm>
        </p:spPr>
        <p:txBody>
          <a:bodyPr/>
          <a:lstStyle/>
          <a:p>
            <a:r>
              <a:rPr lang="en-GB" sz="4000" dirty="0"/>
              <a:t>Research and Development Approach</a:t>
            </a:r>
          </a:p>
        </p:txBody>
      </p:sp>
      <p:pic>
        <p:nvPicPr>
          <p:cNvPr id="5" name="Picture 4">
            <a:extLst>
              <a:ext uri="{FF2B5EF4-FFF2-40B4-BE49-F238E27FC236}">
                <a16:creationId xmlns:a16="http://schemas.microsoft.com/office/drawing/2014/main" id="{ACFAA3DD-5585-1A5C-1BAF-4C71F1A29EF2}"/>
              </a:ext>
            </a:extLst>
          </p:cNvPr>
          <p:cNvPicPr>
            <a:picLocks noChangeAspect="1"/>
          </p:cNvPicPr>
          <p:nvPr/>
        </p:nvPicPr>
        <p:blipFill>
          <a:blip r:embed="rId3"/>
          <a:stretch>
            <a:fillRect/>
          </a:stretch>
        </p:blipFill>
        <p:spPr>
          <a:xfrm>
            <a:off x="6407571" y="4917663"/>
            <a:ext cx="5603633" cy="1639207"/>
          </a:xfrm>
          <a:prstGeom prst="rect">
            <a:avLst/>
          </a:prstGeom>
        </p:spPr>
      </p:pic>
      <p:sp>
        <p:nvSpPr>
          <p:cNvPr id="6" name="Content Placeholder 5">
            <a:extLst>
              <a:ext uri="{FF2B5EF4-FFF2-40B4-BE49-F238E27FC236}">
                <a16:creationId xmlns:a16="http://schemas.microsoft.com/office/drawing/2014/main" id="{A2E05597-9F57-0B17-C81E-07623EC815DF}"/>
              </a:ext>
            </a:extLst>
          </p:cNvPr>
          <p:cNvSpPr>
            <a:spLocks noGrp="1"/>
          </p:cNvSpPr>
          <p:nvPr>
            <p:ph idx="1"/>
          </p:nvPr>
        </p:nvSpPr>
        <p:spPr>
          <a:xfrm>
            <a:off x="1197094" y="1159033"/>
            <a:ext cx="3882903" cy="823143"/>
          </a:xfrm>
        </p:spPr>
        <p:txBody>
          <a:bodyPr>
            <a:normAutofit/>
          </a:bodyPr>
          <a:lstStyle/>
          <a:p>
            <a:pPr marL="0" indent="0">
              <a:buNone/>
            </a:pPr>
            <a:r>
              <a:rPr lang="en-GB" b="1" dirty="0"/>
              <a:t>Research</a:t>
            </a:r>
          </a:p>
          <a:p>
            <a:pPr marL="0" indent="0">
              <a:buNone/>
            </a:pPr>
            <a:r>
              <a:rPr lang="en-GB" sz="1800" dirty="0"/>
              <a:t>Literature &amp; Contextual research</a:t>
            </a:r>
          </a:p>
        </p:txBody>
      </p:sp>
      <p:sp>
        <p:nvSpPr>
          <p:cNvPr id="7" name="Content Placeholder 5">
            <a:extLst>
              <a:ext uri="{FF2B5EF4-FFF2-40B4-BE49-F238E27FC236}">
                <a16:creationId xmlns:a16="http://schemas.microsoft.com/office/drawing/2014/main" id="{266FB10B-C53C-322A-E322-BBC4D34BE45A}"/>
              </a:ext>
            </a:extLst>
          </p:cNvPr>
          <p:cNvSpPr txBox="1">
            <a:spLocks/>
          </p:cNvSpPr>
          <p:nvPr/>
        </p:nvSpPr>
        <p:spPr>
          <a:xfrm>
            <a:off x="1197093" y="2326689"/>
            <a:ext cx="3882903" cy="823143"/>
          </a:xfrm>
          <a:prstGeom prst="rect">
            <a:avLst/>
          </a:prstGeom>
        </p:spPr>
        <p:txBody>
          <a:bodyPr vert="horz" lIns="91440" tIns="45720" rIns="91440" bIns="45720" rtlCol="0">
            <a:normAutofit fontScale="85000" lnSpcReduction="10000"/>
          </a:bodyPr>
          <a:lstStyle>
            <a:lvl1pPr marL="342900" indent="-3429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5pPr>
            <a:lvl6pPr marL="2506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9pPr>
          </a:lstStyle>
          <a:p>
            <a:pPr marL="0" indent="0">
              <a:buFont typeface="Wingdings 3" charset="2"/>
              <a:buNone/>
            </a:pPr>
            <a:r>
              <a:rPr lang="en-GB" b="1" dirty="0"/>
              <a:t>Analysis</a:t>
            </a:r>
          </a:p>
          <a:p>
            <a:pPr marL="0" indent="0">
              <a:buFont typeface="Wingdings 3" charset="2"/>
              <a:buNone/>
            </a:pPr>
            <a:r>
              <a:rPr lang="en-GB" sz="1800" dirty="0"/>
              <a:t>Existing games + Guidance techniques </a:t>
            </a:r>
          </a:p>
        </p:txBody>
      </p:sp>
      <p:sp>
        <p:nvSpPr>
          <p:cNvPr id="8" name="Content Placeholder 5">
            <a:extLst>
              <a:ext uri="{FF2B5EF4-FFF2-40B4-BE49-F238E27FC236}">
                <a16:creationId xmlns:a16="http://schemas.microsoft.com/office/drawing/2014/main" id="{FB651783-5171-0040-3A78-09A0EE9B685E}"/>
              </a:ext>
            </a:extLst>
          </p:cNvPr>
          <p:cNvSpPr txBox="1">
            <a:spLocks/>
          </p:cNvSpPr>
          <p:nvPr/>
        </p:nvSpPr>
        <p:spPr>
          <a:xfrm>
            <a:off x="1197093" y="3494345"/>
            <a:ext cx="3882903" cy="823143"/>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5pPr>
            <a:lvl6pPr marL="2506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9pPr>
          </a:lstStyle>
          <a:p>
            <a:pPr marL="0" indent="0">
              <a:buFont typeface="Wingdings 3" charset="2"/>
              <a:buNone/>
            </a:pPr>
            <a:r>
              <a:rPr lang="en-GB" b="1" dirty="0"/>
              <a:t>Development</a:t>
            </a:r>
          </a:p>
          <a:p>
            <a:pPr marL="0" indent="0">
              <a:buFont typeface="Wingdings 3" charset="2"/>
              <a:buNone/>
            </a:pPr>
            <a:r>
              <a:rPr lang="en-GB" sz="1800" dirty="0"/>
              <a:t>Three Unreal Engine 5 Prototypes</a:t>
            </a:r>
          </a:p>
        </p:txBody>
      </p:sp>
      <p:sp>
        <p:nvSpPr>
          <p:cNvPr id="9" name="Content Placeholder 5">
            <a:extLst>
              <a:ext uri="{FF2B5EF4-FFF2-40B4-BE49-F238E27FC236}">
                <a16:creationId xmlns:a16="http://schemas.microsoft.com/office/drawing/2014/main" id="{F7DD4D80-F312-EB7D-DA82-825D286938F5}"/>
              </a:ext>
            </a:extLst>
          </p:cNvPr>
          <p:cNvSpPr txBox="1">
            <a:spLocks/>
          </p:cNvSpPr>
          <p:nvPr/>
        </p:nvSpPr>
        <p:spPr>
          <a:xfrm>
            <a:off x="1197095" y="4539359"/>
            <a:ext cx="3882903" cy="823143"/>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5pPr>
            <a:lvl6pPr marL="2506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9pPr>
          </a:lstStyle>
          <a:p>
            <a:pPr marL="0" indent="0">
              <a:buFont typeface="Wingdings 3" charset="2"/>
              <a:buNone/>
            </a:pPr>
            <a:r>
              <a:rPr lang="en-GB" b="1" dirty="0"/>
              <a:t>Testing</a:t>
            </a:r>
          </a:p>
          <a:p>
            <a:pPr marL="0" indent="0">
              <a:buFont typeface="Wingdings 3" charset="2"/>
              <a:buNone/>
            </a:pPr>
            <a:r>
              <a:rPr lang="en-GB" sz="1800" dirty="0"/>
              <a:t>Player testing &amp; observation</a:t>
            </a:r>
          </a:p>
        </p:txBody>
      </p:sp>
      <p:sp>
        <p:nvSpPr>
          <p:cNvPr id="10" name="Content Placeholder 5">
            <a:extLst>
              <a:ext uri="{FF2B5EF4-FFF2-40B4-BE49-F238E27FC236}">
                <a16:creationId xmlns:a16="http://schemas.microsoft.com/office/drawing/2014/main" id="{74AB7F9F-5663-F4D8-9CFA-8F49DADAE53D}"/>
              </a:ext>
            </a:extLst>
          </p:cNvPr>
          <p:cNvSpPr txBox="1">
            <a:spLocks/>
          </p:cNvSpPr>
          <p:nvPr/>
        </p:nvSpPr>
        <p:spPr>
          <a:xfrm>
            <a:off x="1197094" y="5649523"/>
            <a:ext cx="4422167" cy="823143"/>
          </a:xfrm>
          <a:prstGeom prst="rect">
            <a:avLst/>
          </a:prstGeom>
        </p:spPr>
        <p:txBody>
          <a:bodyPr vert="horz" lIns="91440" tIns="45720" rIns="91440" bIns="45720" rtlCol="0">
            <a:normAutofit fontScale="92500"/>
          </a:bodyPr>
          <a:lstStyle>
            <a:lvl1pPr marL="342900" indent="-3429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5pPr>
            <a:lvl6pPr marL="2506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9pPr>
          </a:lstStyle>
          <a:p>
            <a:pPr marL="0" indent="0">
              <a:buFont typeface="Wingdings 3" charset="2"/>
              <a:buNone/>
            </a:pPr>
            <a:r>
              <a:rPr lang="en-GB" b="1" dirty="0"/>
              <a:t>Iteration</a:t>
            </a:r>
          </a:p>
          <a:p>
            <a:pPr marL="0" indent="0">
              <a:buFont typeface="Wingdings 3" charset="2"/>
              <a:buNone/>
            </a:pPr>
            <a:r>
              <a:rPr lang="en-GB" sz="1800" dirty="0"/>
              <a:t>Analysis -&gt; design changes -&gt; retesting</a:t>
            </a:r>
          </a:p>
        </p:txBody>
      </p:sp>
      <p:sp>
        <p:nvSpPr>
          <p:cNvPr id="17" name="Arrow: Down 16">
            <a:extLst>
              <a:ext uri="{FF2B5EF4-FFF2-40B4-BE49-F238E27FC236}">
                <a16:creationId xmlns:a16="http://schemas.microsoft.com/office/drawing/2014/main" id="{6C2D8FF9-26B9-56AE-34D3-E1AC391FF58E}"/>
              </a:ext>
            </a:extLst>
          </p:cNvPr>
          <p:cNvSpPr/>
          <p:nvPr/>
        </p:nvSpPr>
        <p:spPr>
          <a:xfrm>
            <a:off x="2693067" y="2062859"/>
            <a:ext cx="445477" cy="305789"/>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 name="Arrow: Down 18">
            <a:extLst>
              <a:ext uri="{FF2B5EF4-FFF2-40B4-BE49-F238E27FC236}">
                <a16:creationId xmlns:a16="http://schemas.microsoft.com/office/drawing/2014/main" id="{60D3E1BF-7D57-2D44-9E5B-8070BB3EF26D}"/>
              </a:ext>
            </a:extLst>
          </p:cNvPr>
          <p:cNvSpPr/>
          <p:nvPr/>
        </p:nvSpPr>
        <p:spPr>
          <a:xfrm>
            <a:off x="2693067" y="3169670"/>
            <a:ext cx="445477" cy="305789"/>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Arrow: Down 20">
            <a:extLst>
              <a:ext uri="{FF2B5EF4-FFF2-40B4-BE49-F238E27FC236}">
                <a16:creationId xmlns:a16="http://schemas.microsoft.com/office/drawing/2014/main" id="{4AF2C454-3893-BF02-D099-FA5BADE611B5}"/>
              </a:ext>
            </a:extLst>
          </p:cNvPr>
          <p:cNvSpPr/>
          <p:nvPr/>
        </p:nvSpPr>
        <p:spPr>
          <a:xfrm>
            <a:off x="2693066" y="4377704"/>
            <a:ext cx="445477" cy="305789"/>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Arrow: Down 22">
            <a:extLst>
              <a:ext uri="{FF2B5EF4-FFF2-40B4-BE49-F238E27FC236}">
                <a16:creationId xmlns:a16="http://schemas.microsoft.com/office/drawing/2014/main" id="{94BD1B97-64A6-52E9-B2D7-E93AA23AECB1}"/>
              </a:ext>
            </a:extLst>
          </p:cNvPr>
          <p:cNvSpPr/>
          <p:nvPr/>
        </p:nvSpPr>
        <p:spPr>
          <a:xfrm>
            <a:off x="2713271" y="5431478"/>
            <a:ext cx="445477" cy="305789"/>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21975744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6263E9-477E-5C76-C6C3-4EABB8CA2732}"/>
              </a:ext>
            </a:extLst>
          </p:cNvPr>
          <p:cNvSpPr>
            <a:spLocks noGrp="1"/>
          </p:cNvSpPr>
          <p:nvPr>
            <p:ph type="title"/>
          </p:nvPr>
        </p:nvSpPr>
        <p:spPr/>
        <p:txBody>
          <a:bodyPr/>
          <a:lstStyle/>
          <a:p>
            <a:r>
              <a:rPr lang="en-GB" dirty="0"/>
              <a:t>Prototype 1: Lighting</a:t>
            </a:r>
          </a:p>
        </p:txBody>
      </p:sp>
      <p:sp>
        <p:nvSpPr>
          <p:cNvPr id="3" name="Content Placeholder 2">
            <a:extLst>
              <a:ext uri="{FF2B5EF4-FFF2-40B4-BE49-F238E27FC236}">
                <a16:creationId xmlns:a16="http://schemas.microsoft.com/office/drawing/2014/main" id="{1727424C-4E47-17EC-C2A0-9F127197B0A5}"/>
              </a:ext>
            </a:extLst>
          </p:cNvPr>
          <p:cNvSpPr>
            <a:spLocks noGrp="1"/>
          </p:cNvSpPr>
          <p:nvPr>
            <p:ph idx="1"/>
          </p:nvPr>
        </p:nvSpPr>
        <p:spPr>
          <a:xfrm>
            <a:off x="437663" y="1477683"/>
            <a:ext cx="11488614" cy="4927599"/>
          </a:xfrm>
        </p:spPr>
        <p:txBody>
          <a:bodyPr/>
          <a:lstStyle/>
          <a:p>
            <a:r>
              <a:rPr lang="en-GB" dirty="0"/>
              <a:t>What I investigated – Can lighting influence player direction and attract attention towards the intended route</a:t>
            </a:r>
          </a:p>
          <a:p>
            <a:r>
              <a:rPr lang="en-GB" dirty="0">
                <a:highlight>
                  <a:srgbClr val="FFFF00"/>
                </a:highlight>
              </a:rPr>
              <a:t>What I built – Video Walkthrough </a:t>
            </a:r>
          </a:p>
          <a:p>
            <a:r>
              <a:rPr lang="en-GB" dirty="0"/>
              <a:t>How it guides the player:</a:t>
            </a:r>
          </a:p>
          <a:p>
            <a:pPr lvl="1">
              <a:buFont typeface="Arial" panose="020B0604020202020204" pitchFamily="34" charset="0"/>
              <a:buChar char="•"/>
            </a:pPr>
            <a:r>
              <a:rPr lang="en-GB" sz="1600" dirty="0"/>
              <a:t>Contrast between light and dark areas</a:t>
            </a:r>
          </a:p>
          <a:p>
            <a:pPr lvl="1">
              <a:buFont typeface="Arial" panose="020B0604020202020204" pitchFamily="34" charset="0"/>
              <a:buChar char="•"/>
            </a:pPr>
            <a:r>
              <a:rPr lang="en-GB" sz="1600" dirty="0"/>
              <a:t>Brightness draws attention</a:t>
            </a:r>
          </a:p>
          <a:p>
            <a:pPr lvl="1">
              <a:buFont typeface="Arial" panose="020B0604020202020204" pitchFamily="34" charset="0"/>
              <a:buChar char="•"/>
            </a:pPr>
            <a:r>
              <a:rPr lang="en-GB" sz="1600" dirty="0"/>
              <a:t>Lighting creates a visual priority </a:t>
            </a:r>
          </a:p>
          <a:p>
            <a:pPr lvl="1">
              <a:buFont typeface="Arial" panose="020B0604020202020204" pitchFamily="34" charset="0"/>
              <a:buChar char="•"/>
            </a:pPr>
            <a:r>
              <a:rPr lang="en-GB" sz="1600" dirty="0"/>
              <a:t>Player is encouraged to investigate the illuminated area</a:t>
            </a:r>
          </a:p>
          <a:p>
            <a:endParaRPr lang="en-GB" dirty="0"/>
          </a:p>
          <a:p>
            <a:r>
              <a:rPr lang="en-GB" dirty="0"/>
              <a:t>What I learned </a:t>
            </a:r>
          </a:p>
          <a:p>
            <a:r>
              <a:rPr lang="en-GB" dirty="0"/>
              <a:t>Lighting successfully attracted player attention, but its effectiveness was affected by the number and clarity of alternative routes </a:t>
            </a:r>
          </a:p>
        </p:txBody>
      </p:sp>
    </p:spTree>
    <p:extLst>
      <p:ext uri="{BB962C8B-B14F-4D97-AF65-F5344CB8AC3E}">
        <p14:creationId xmlns:p14="http://schemas.microsoft.com/office/powerpoint/2010/main" val="368144739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466014B-002F-F2FE-EDD8-C7253BAD0B4C}"/>
              </a:ext>
            </a:extLst>
          </p:cNvPr>
          <p:cNvPicPr>
            <a:picLocks noChangeAspect="1"/>
          </p:cNvPicPr>
          <p:nvPr/>
        </p:nvPicPr>
        <p:blipFill>
          <a:blip r:embed="rId2"/>
          <a:stretch>
            <a:fillRect/>
          </a:stretch>
        </p:blipFill>
        <p:spPr>
          <a:xfrm>
            <a:off x="171282" y="201155"/>
            <a:ext cx="6433944" cy="2504661"/>
          </a:xfrm>
          <a:prstGeom prst="rect">
            <a:avLst/>
          </a:prstGeom>
        </p:spPr>
      </p:pic>
      <p:pic>
        <p:nvPicPr>
          <p:cNvPr id="7" name="Picture 6">
            <a:extLst>
              <a:ext uri="{FF2B5EF4-FFF2-40B4-BE49-F238E27FC236}">
                <a16:creationId xmlns:a16="http://schemas.microsoft.com/office/drawing/2014/main" id="{E967781A-46BE-4147-E0DA-842619B7C54E}"/>
              </a:ext>
            </a:extLst>
          </p:cNvPr>
          <p:cNvPicPr>
            <a:picLocks noChangeAspect="1"/>
          </p:cNvPicPr>
          <p:nvPr/>
        </p:nvPicPr>
        <p:blipFill>
          <a:blip r:embed="rId3"/>
          <a:srcRect l="14687" t="4760" r="17824"/>
          <a:stretch>
            <a:fillRect/>
          </a:stretch>
        </p:blipFill>
        <p:spPr>
          <a:xfrm>
            <a:off x="6325548" y="1716204"/>
            <a:ext cx="5796654" cy="3200403"/>
          </a:xfrm>
          <a:prstGeom prst="rect">
            <a:avLst/>
          </a:prstGeom>
        </p:spPr>
      </p:pic>
      <p:pic>
        <p:nvPicPr>
          <p:cNvPr id="9" name="Picture 8">
            <a:extLst>
              <a:ext uri="{FF2B5EF4-FFF2-40B4-BE49-F238E27FC236}">
                <a16:creationId xmlns:a16="http://schemas.microsoft.com/office/drawing/2014/main" id="{3F556A91-9021-2A8F-0F7F-D3CC6C6D5E19}"/>
              </a:ext>
            </a:extLst>
          </p:cNvPr>
          <p:cNvPicPr>
            <a:picLocks noChangeAspect="1"/>
          </p:cNvPicPr>
          <p:nvPr/>
        </p:nvPicPr>
        <p:blipFill>
          <a:blip r:embed="rId4"/>
          <a:stretch>
            <a:fillRect/>
          </a:stretch>
        </p:blipFill>
        <p:spPr>
          <a:xfrm>
            <a:off x="69798" y="3316406"/>
            <a:ext cx="6095288" cy="3485474"/>
          </a:xfrm>
          <a:prstGeom prst="rect">
            <a:avLst/>
          </a:prstGeom>
        </p:spPr>
      </p:pic>
      <p:sp>
        <p:nvSpPr>
          <p:cNvPr id="11" name="Arrow: Right 10">
            <a:extLst>
              <a:ext uri="{FF2B5EF4-FFF2-40B4-BE49-F238E27FC236}">
                <a16:creationId xmlns:a16="http://schemas.microsoft.com/office/drawing/2014/main" id="{A5C1B893-7686-7E2A-3BFB-467655A9DDAB}"/>
              </a:ext>
            </a:extLst>
          </p:cNvPr>
          <p:cNvSpPr/>
          <p:nvPr/>
        </p:nvSpPr>
        <p:spPr>
          <a:xfrm rot="826468">
            <a:off x="5307649" y="1064079"/>
            <a:ext cx="1714874" cy="77881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3" name="Arrow: Right 12">
            <a:extLst>
              <a:ext uri="{FF2B5EF4-FFF2-40B4-BE49-F238E27FC236}">
                <a16:creationId xmlns:a16="http://schemas.microsoft.com/office/drawing/2014/main" id="{FCBBD647-84B4-DF73-BCEA-075220C4AE72}"/>
              </a:ext>
            </a:extLst>
          </p:cNvPr>
          <p:cNvSpPr/>
          <p:nvPr/>
        </p:nvSpPr>
        <p:spPr>
          <a:xfrm rot="9977566">
            <a:off x="5387880" y="4432749"/>
            <a:ext cx="1714874" cy="77881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270269449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EF6B2B-DDD6-757A-0ABE-18DC2159B84D}"/>
              </a:ext>
            </a:extLst>
          </p:cNvPr>
          <p:cNvSpPr>
            <a:spLocks noGrp="1"/>
          </p:cNvSpPr>
          <p:nvPr>
            <p:ph type="title"/>
          </p:nvPr>
        </p:nvSpPr>
        <p:spPr>
          <a:xfrm>
            <a:off x="130295" y="179179"/>
            <a:ext cx="10178197" cy="1400530"/>
          </a:xfrm>
        </p:spPr>
        <p:txBody>
          <a:bodyPr/>
          <a:lstStyle/>
          <a:p>
            <a:r>
              <a:rPr lang="en-GB" dirty="0"/>
              <a:t>Prototype 2 – Architectural guidance </a:t>
            </a:r>
          </a:p>
        </p:txBody>
      </p:sp>
      <p:sp>
        <p:nvSpPr>
          <p:cNvPr id="3" name="Content Placeholder 2">
            <a:extLst>
              <a:ext uri="{FF2B5EF4-FFF2-40B4-BE49-F238E27FC236}">
                <a16:creationId xmlns:a16="http://schemas.microsoft.com/office/drawing/2014/main" id="{E8F33170-9047-DA77-A3FB-86F52660E0F6}"/>
              </a:ext>
            </a:extLst>
          </p:cNvPr>
          <p:cNvSpPr>
            <a:spLocks noGrp="1"/>
          </p:cNvSpPr>
          <p:nvPr>
            <p:ph idx="1"/>
          </p:nvPr>
        </p:nvSpPr>
        <p:spPr>
          <a:xfrm>
            <a:off x="289170" y="1078523"/>
            <a:ext cx="10816492" cy="5462953"/>
          </a:xfrm>
        </p:spPr>
        <p:txBody>
          <a:bodyPr>
            <a:normAutofit/>
          </a:bodyPr>
          <a:lstStyle/>
          <a:p>
            <a:r>
              <a:rPr lang="en-GB" dirty="0"/>
              <a:t>Can the Structure and layout of an environment influence which route a player chooses?</a:t>
            </a:r>
          </a:p>
          <a:p>
            <a:endParaRPr lang="en-GB" dirty="0"/>
          </a:p>
          <a:p>
            <a:r>
              <a:rPr lang="en-GB" dirty="0"/>
              <a:t>Approach:</a:t>
            </a:r>
          </a:p>
          <a:p>
            <a:pPr>
              <a:buFont typeface="Arial" panose="020B0604020202020204" pitchFamily="34" charset="0"/>
              <a:buChar char="•"/>
            </a:pPr>
            <a:r>
              <a:rPr lang="en-GB" dirty="0"/>
              <a:t>Path width – making one route feel more significant</a:t>
            </a:r>
          </a:p>
          <a:p>
            <a:pPr>
              <a:buFont typeface="Arial" panose="020B0604020202020204" pitchFamily="34" charset="0"/>
              <a:buChar char="•"/>
            </a:pPr>
            <a:r>
              <a:rPr lang="en-GB" dirty="0"/>
              <a:t>Framing – drawing attention towards areas of interest </a:t>
            </a:r>
          </a:p>
          <a:p>
            <a:pPr>
              <a:buFont typeface="Arial" panose="020B0604020202020204" pitchFamily="34" charset="0"/>
              <a:buChar char="•"/>
            </a:pPr>
            <a:r>
              <a:rPr lang="en-GB" dirty="0"/>
              <a:t>Visibility &amp; Reveals – Controlling what the player can see</a:t>
            </a:r>
          </a:p>
          <a:p>
            <a:endParaRPr lang="en-GB" dirty="0"/>
          </a:p>
          <a:p>
            <a:r>
              <a:rPr lang="en-GB" dirty="0"/>
              <a:t>Finding:</a:t>
            </a:r>
          </a:p>
          <a:p>
            <a:pPr>
              <a:buFont typeface="Arial" panose="020B0604020202020204" pitchFamily="34" charset="0"/>
              <a:buChar char="•"/>
            </a:pPr>
            <a:r>
              <a:rPr lang="en-GB" dirty="0"/>
              <a:t>Architectural design successfully influenced route choice without explicitly telling players where to go</a:t>
            </a:r>
          </a:p>
          <a:p>
            <a:pPr>
              <a:buFont typeface="Arial" panose="020B0604020202020204" pitchFamily="34" charset="0"/>
              <a:buChar char="•"/>
            </a:pPr>
            <a:r>
              <a:rPr lang="en-GB" dirty="0"/>
              <a:t>However, architectural cues can become strong enough to function as an obvious path</a:t>
            </a:r>
          </a:p>
        </p:txBody>
      </p:sp>
    </p:spTree>
    <p:extLst>
      <p:ext uri="{BB962C8B-B14F-4D97-AF65-F5344CB8AC3E}">
        <p14:creationId xmlns:p14="http://schemas.microsoft.com/office/powerpoint/2010/main" val="320611785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0445825-A323-C7D7-3872-4B1C88472995}"/>
              </a:ext>
            </a:extLst>
          </p:cNvPr>
          <p:cNvPicPr>
            <a:picLocks noChangeAspect="1"/>
          </p:cNvPicPr>
          <p:nvPr/>
        </p:nvPicPr>
        <p:blipFill>
          <a:blip r:embed="rId2"/>
          <a:stretch>
            <a:fillRect/>
          </a:stretch>
        </p:blipFill>
        <p:spPr>
          <a:xfrm>
            <a:off x="208791" y="191669"/>
            <a:ext cx="5626621" cy="2365999"/>
          </a:xfrm>
          <a:prstGeom prst="rect">
            <a:avLst/>
          </a:prstGeom>
        </p:spPr>
      </p:pic>
      <p:pic>
        <p:nvPicPr>
          <p:cNvPr id="8" name="Picture 7">
            <a:extLst>
              <a:ext uri="{FF2B5EF4-FFF2-40B4-BE49-F238E27FC236}">
                <a16:creationId xmlns:a16="http://schemas.microsoft.com/office/drawing/2014/main" id="{DB5B037B-20E7-B45B-A646-01076C1F991C}"/>
              </a:ext>
            </a:extLst>
          </p:cNvPr>
          <p:cNvPicPr>
            <a:picLocks noChangeAspect="1"/>
          </p:cNvPicPr>
          <p:nvPr/>
        </p:nvPicPr>
        <p:blipFill>
          <a:blip r:embed="rId3"/>
          <a:stretch>
            <a:fillRect/>
          </a:stretch>
        </p:blipFill>
        <p:spPr>
          <a:xfrm>
            <a:off x="6161081" y="1797392"/>
            <a:ext cx="5822128" cy="2774608"/>
          </a:xfrm>
          <a:prstGeom prst="rect">
            <a:avLst/>
          </a:prstGeom>
        </p:spPr>
      </p:pic>
      <p:pic>
        <p:nvPicPr>
          <p:cNvPr id="6" name="Picture 5">
            <a:extLst>
              <a:ext uri="{FF2B5EF4-FFF2-40B4-BE49-F238E27FC236}">
                <a16:creationId xmlns:a16="http://schemas.microsoft.com/office/drawing/2014/main" id="{F069141A-AA08-5B07-9D4C-171D590A4C6B}"/>
              </a:ext>
            </a:extLst>
          </p:cNvPr>
          <p:cNvPicPr>
            <a:picLocks noChangeAspect="1"/>
          </p:cNvPicPr>
          <p:nvPr/>
        </p:nvPicPr>
        <p:blipFill>
          <a:blip r:embed="rId4"/>
          <a:stretch>
            <a:fillRect/>
          </a:stretch>
        </p:blipFill>
        <p:spPr>
          <a:xfrm>
            <a:off x="208790" y="3753863"/>
            <a:ext cx="5626621" cy="2832465"/>
          </a:xfrm>
          <a:prstGeom prst="rect">
            <a:avLst/>
          </a:prstGeom>
        </p:spPr>
      </p:pic>
      <p:sp>
        <p:nvSpPr>
          <p:cNvPr id="10" name="Arrow: Right 9">
            <a:extLst>
              <a:ext uri="{FF2B5EF4-FFF2-40B4-BE49-F238E27FC236}">
                <a16:creationId xmlns:a16="http://schemas.microsoft.com/office/drawing/2014/main" id="{55D585BE-1588-EC7E-81E6-F30EE2D491B5}"/>
              </a:ext>
            </a:extLst>
          </p:cNvPr>
          <p:cNvSpPr/>
          <p:nvPr/>
        </p:nvSpPr>
        <p:spPr>
          <a:xfrm rot="2222386">
            <a:off x="5173483" y="1967967"/>
            <a:ext cx="1714874" cy="77881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2" name="Arrow: Right 11">
            <a:extLst>
              <a:ext uri="{FF2B5EF4-FFF2-40B4-BE49-F238E27FC236}">
                <a16:creationId xmlns:a16="http://schemas.microsoft.com/office/drawing/2014/main" id="{776841AF-695D-0FC5-9330-C16972FFACD9}"/>
              </a:ext>
            </a:extLst>
          </p:cNvPr>
          <p:cNvSpPr/>
          <p:nvPr/>
        </p:nvSpPr>
        <p:spPr>
          <a:xfrm rot="8826079">
            <a:off x="5499154" y="4586112"/>
            <a:ext cx="1714874" cy="77881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366148986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5B7034-7E2B-6B51-32F7-7AD641E57E7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C2F990-5E58-E757-C367-451E60D51072}"/>
              </a:ext>
            </a:extLst>
          </p:cNvPr>
          <p:cNvSpPr>
            <a:spLocks noGrp="1"/>
          </p:cNvSpPr>
          <p:nvPr>
            <p:ph type="title"/>
          </p:nvPr>
        </p:nvSpPr>
        <p:spPr>
          <a:xfrm>
            <a:off x="450726" y="155734"/>
            <a:ext cx="9263797" cy="930604"/>
          </a:xfrm>
        </p:spPr>
        <p:txBody>
          <a:bodyPr/>
          <a:lstStyle/>
          <a:p>
            <a:r>
              <a:rPr lang="en-GB" dirty="0"/>
              <a:t>Prototype 3 - Landmarks</a:t>
            </a:r>
          </a:p>
        </p:txBody>
      </p:sp>
      <p:sp>
        <p:nvSpPr>
          <p:cNvPr id="3" name="Content Placeholder 2">
            <a:extLst>
              <a:ext uri="{FF2B5EF4-FFF2-40B4-BE49-F238E27FC236}">
                <a16:creationId xmlns:a16="http://schemas.microsoft.com/office/drawing/2014/main" id="{2F1244ED-4603-F27B-E7D9-C46B6A7F4355}"/>
              </a:ext>
            </a:extLst>
          </p:cNvPr>
          <p:cNvSpPr>
            <a:spLocks noGrp="1"/>
          </p:cNvSpPr>
          <p:nvPr>
            <p:ph idx="1"/>
          </p:nvPr>
        </p:nvSpPr>
        <p:spPr>
          <a:xfrm>
            <a:off x="257909" y="1297353"/>
            <a:ext cx="11390922" cy="5267569"/>
          </a:xfrm>
        </p:spPr>
        <p:txBody>
          <a:bodyPr>
            <a:normAutofit fontScale="92500" lnSpcReduction="20000"/>
          </a:bodyPr>
          <a:lstStyle/>
          <a:p>
            <a:r>
              <a:rPr lang="en-GB" dirty="0"/>
              <a:t>Can distinctive environmental landmarks help players navigate and maintain orientation without defined routes?</a:t>
            </a:r>
          </a:p>
          <a:p>
            <a:r>
              <a:rPr lang="en-GB" dirty="0"/>
              <a:t>Initial Approach:</a:t>
            </a:r>
          </a:p>
          <a:p>
            <a:pPr lvl="1">
              <a:buFont typeface="Arial" panose="020B0604020202020204" pitchFamily="34" charset="0"/>
              <a:buChar char="•"/>
            </a:pPr>
            <a:r>
              <a:rPr lang="en-GB" dirty="0"/>
              <a:t>Large, recognisable landmarks</a:t>
            </a:r>
          </a:p>
          <a:p>
            <a:pPr lvl="1">
              <a:buFont typeface="Arial" panose="020B0604020202020204" pitchFamily="34" charset="0"/>
              <a:buChar char="•"/>
            </a:pPr>
            <a:r>
              <a:rPr lang="en-GB" dirty="0"/>
              <a:t>Water tower as visual reference </a:t>
            </a:r>
          </a:p>
          <a:p>
            <a:pPr lvl="1">
              <a:buFont typeface="Arial" panose="020B0604020202020204" pitchFamily="34" charset="0"/>
              <a:buChar char="•"/>
            </a:pPr>
            <a:r>
              <a:rPr lang="en-GB" dirty="0"/>
              <a:t>Players could use the landmark to understand direction and position </a:t>
            </a:r>
          </a:p>
          <a:p>
            <a:r>
              <a:rPr lang="en-GB" dirty="0"/>
              <a:t>What I discovered from testing was the initial environment still contained strong architectural guidance </a:t>
            </a:r>
          </a:p>
          <a:p>
            <a:r>
              <a:rPr lang="en-GB" dirty="0"/>
              <a:t>Iteration after testing:</a:t>
            </a:r>
          </a:p>
          <a:p>
            <a:pPr>
              <a:buFont typeface="Arial" panose="020B0604020202020204" pitchFamily="34" charset="0"/>
              <a:buChar char="•"/>
            </a:pPr>
            <a:r>
              <a:rPr lang="en-GB" dirty="0"/>
              <a:t>Redesigned entire environment </a:t>
            </a:r>
          </a:p>
          <a:p>
            <a:pPr>
              <a:buFont typeface="Arial" panose="020B0604020202020204" pitchFamily="34" charset="0"/>
              <a:buChar char="•"/>
            </a:pPr>
            <a:r>
              <a:rPr lang="en-GB" dirty="0"/>
              <a:t>Open terrain </a:t>
            </a:r>
          </a:p>
          <a:p>
            <a:pPr>
              <a:buFont typeface="Arial" panose="020B0604020202020204" pitchFamily="34" charset="0"/>
              <a:buChar char="•"/>
            </a:pPr>
            <a:r>
              <a:rPr lang="en-GB" dirty="0"/>
              <a:t>Reduced routes </a:t>
            </a:r>
          </a:p>
          <a:p>
            <a:pPr>
              <a:buFont typeface="Arial" panose="020B0604020202020204" pitchFamily="34" charset="0"/>
              <a:buChar char="•"/>
            </a:pPr>
            <a:r>
              <a:rPr lang="en-GB" dirty="0"/>
              <a:t>Added more environmental landmarks (Rivers, hills)</a:t>
            </a:r>
          </a:p>
          <a:p>
            <a:pPr>
              <a:buFont typeface="Arial" panose="020B0604020202020204" pitchFamily="34" charset="0"/>
              <a:buChar char="•"/>
            </a:pPr>
            <a:r>
              <a:rPr lang="en-GB" dirty="0"/>
              <a:t>Retested</a:t>
            </a:r>
          </a:p>
          <a:p>
            <a:r>
              <a:rPr lang="en-GB" dirty="0"/>
              <a:t>As a result, players were able to now use the water tower as a reference point for orientation</a:t>
            </a:r>
          </a:p>
          <a:p>
            <a:pPr marL="0" indent="0">
              <a:buNone/>
            </a:pPr>
            <a:endParaRPr lang="en-GB" dirty="0"/>
          </a:p>
        </p:txBody>
      </p:sp>
    </p:spTree>
    <p:extLst>
      <p:ext uri="{BB962C8B-B14F-4D97-AF65-F5344CB8AC3E}">
        <p14:creationId xmlns:p14="http://schemas.microsoft.com/office/powerpoint/2010/main" val="35396471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2D7DF1E-DD82-6009-8A3A-AAB4B60DD7DB}"/>
              </a:ext>
            </a:extLst>
          </p:cNvPr>
          <p:cNvPicPr>
            <a:picLocks noChangeAspect="1"/>
          </p:cNvPicPr>
          <p:nvPr/>
        </p:nvPicPr>
        <p:blipFill>
          <a:blip r:embed="rId2"/>
          <a:stretch>
            <a:fillRect/>
          </a:stretch>
        </p:blipFill>
        <p:spPr>
          <a:xfrm>
            <a:off x="7299498" y="1365260"/>
            <a:ext cx="3607657" cy="1879900"/>
          </a:xfrm>
          <a:prstGeom prst="rect">
            <a:avLst/>
          </a:prstGeom>
        </p:spPr>
      </p:pic>
      <p:pic>
        <p:nvPicPr>
          <p:cNvPr id="7" name="Picture 6">
            <a:extLst>
              <a:ext uri="{FF2B5EF4-FFF2-40B4-BE49-F238E27FC236}">
                <a16:creationId xmlns:a16="http://schemas.microsoft.com/office/drawing/2014/main" id="{DB39E4F7-E8B3-186B-2EC4-361491640C06}"/>
              </a:ext>
            </a:extLst>
          </p:cNvPr>
          <p:cNvPicPr>
            <a:picLocks noChangeAspect="1"/>
          </p:cNvPicPr>
          <p:nvPr/>
        </p:nvPicPr>
        <p:blipFill>
          <a:blip r:embed="rId3"/>
          <a:stretch>
            <a:fillRect/>
          </a:stretch>
        </p:blipFill>
        <p:spPr>
          <a:xfrm>
            <a:off x="4734263" y="4257260"/>
            <a:ext cx="6095999" cy="2097825"/>
          </a:xfrm>
          <a:prstGeom prst="rect">
            <a:avLst/>
          </a:prstGeom>
        </p:spPr>
      </p:pic>
      <p:pic>
        <p:nvPicPr>
          <p:cNvPr id="9" name="Picture 8">
            <a:extLst>
              <a:ext uri="{FF2B5EF4-FFF2-40B4-BE49-F238E27FC236}">
                <a16:creationId xmlns:a16="http://schemas.microsoft.com/office/drawing/2014/main" id="{D8CA4696-F657-0EE3-7B45-0D8B4D305C41}"/>
              </a:ext>
            </a:extLst>
          </p:cNvPr>
          <p:cNvPicPr>
            <a:picLocks noChangeAspect="1"/>
          </p:cNvPicPr>
          <p:nvPr/>
        </p:nvPicPr>
        <p:blipFill>
          <a:blip r:embed="rId4"/>
          <a:stretch>
            <a:fillRect/>
          </a:stretch>
        </p:blipFill>
        <p:spPr>
          <a:xfrm>
            <a:off x="105233" y="263761"/>
            <a:ext cx="4784820" cy="2041449"/>
          </a:xfrm>
          <a:prstGeom prst="rect">
            <a:avLst/>
          </a:prstGeom>
        </p:spPr>
      </p:pic>
      <p:cxnSp>
        <p:nvCxnSpPr>
          <p:cNvPr id="11" name="Connector: Elbow 10">
            <a:extLst>
              <a:ext uri="{FF2B5EF4-FFF2-40B4-BE49-F238E27FC236}">
                <a16:creationId xmlns:a16="http://schemas.microsoft.com/office/drawing/2014/main" id="{1BCCDF77-8F88-454F-1DE5-0CEAC953FC53}"/>
              </a:ext>
            </a:extLst>
          </p:cNvPr>
          <p:cNvCxnSpPr>
            <a:cxnSpLocks/>
            <a:endCxn id="5" idx="0"/>
          </p:cNvCxnSpPr>
          <p:nvPr/>
        </p:nvCxnSpPr>
        <p:spPr>
          <a:xfrm>
            <a:off x="4890053" y="1075443"/>
            <a:ext cx="4213274" cy="289817"/>
          </a:xfrm>
          <a:prstGeom prst="bentConnector2">
            <a:avLst/>
          </a:prstGeom>
          <a:ln>
            <a:tailEnd type="triangle"/>
          </a:ln>
        </p:spPr>
        <p:style>
          <a:lnRef idx="3">
            <a:schemeClr val="dk1"/>
          </a:lnRef>
          <a:fillRef idx="0">
            <a:schemeClr val="dk1"/>
          </a:fillRef>
          <a:effectRef idx="2">
            <a:schemeClr val="dk1"/>
          </a:effectRef>
          <a:fontRef idx="minor">
            <a:schemeClr val="tx1"/>
          </a:fontRef>
        </p:style>
      </p:cxnSp>
      <p:cxnSp>
        <p:nvCxnSpPr>
          <p:cNvPr id="13" name="Connector: Elbow 12">
            <a:extLst>
              <a:ext uri="{FF2B5EF4-FFF2-40B4-BE49-F238E27FC236}">
                <a16:creationId xmlns:a16="http://schemas.microsoft.com/office/drawing/2014/main" id="{932FA5BB-5CB8-6D3C-574B-00FF37FF4F82}"/>
              </a:ext>
            </a:extLst>
          </p:cNvPr>
          <p:cNvCxnSpPr>
            <a:cxnSpLocks/>
            <a:stCxn id="5" idx="2"/>
            <a:endCxn id="7" idx="0"/>
          </p:cNvCxnSpPr>
          <p:nvPr/>
        </p:nvCxnSpPr>
        <p:spPr>
          <a:xfrm rot="5400000">
            <a:off x="7936745" y="3090678"/>
            <a:ext cx="1012100" cy="1321064"/>
          </a:xfrm>
          <a:prstGeom prst="bentConnector3">
            <a:avLst>
              <a:gd name="adj1" fmla="val 50000"/>
            </a:avLst>
          </a:prstGeom>
          <a:ln>
            <a:tailEnd type="triangle"/>
          </a:ln>
        </p:spPr>
        <p:style>
          <a:lnRef idx="3">
            <a:schemeClr val="dk1"/>
          </a:lnRef>
          <a:fillRef idx="0">
            <a:schemeClr val="dk1"/>
          </a:fillRef>
          <a:effectRef idx="2">
            <a:schemeClr val="dk1"/>
          </a:effectRef>
          <a:fontRef idx="minor">
            <a:schemeClr val="tx1"/>
          </a:fontRef>
        </p:style>
      </p:cxnSp>
    </p:spTree>
    <p:extLst>
      <p:ext uri="{BB962C8B-B14F-4D97-AF65-F5344CB8AC3E}">
        <p14:creationId xmlns:p14="http://schemas.microsoft.com/office/powerpoint/2010/main" val="31754059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83D114-F04D-E719-3985-005B71AD29D4}"/>
              </a:ext>
            </a:extLst>
          </p:cNvPr>
          <p:cNvSpPr>
            <a:spLocks noGrp="1"/>
          </p:cNvSpPr>
          <p:nvPr>
            <p:ph type="title"/>
          </p:nvPr>
        </p:nvSpPr>
        <p:spPr/>
        <p:txBody>
          <a:bodyPr/>
          <a:lstStyle/>
          <a:p>
            <a:r>
              <a:rPr lang="en-GB" dirty="0"/>
              <a:t>Testing and Findings </a:t>
            </a:r>
          </a:p>
        </p:txBody>
      </p:sp>
      <p:sp>
        <p:nvSpPr>
          <p:cNvPr id="3" name="Content Placeholder 2">
            <a:extLst>
              <a:ext uri="{FF2B5EF4-FFF2-40B4-BE49-F238E27FC236}">
                <a16:creationId xmlns:a16="http://schemas.microsoft.com/office/drawing/2014/main" id="{99294308-9325-1D03-22EB-E6F8E1E7B8D3}"/>
              </a:ext>
            </a:extLst>
          </p:cNvPr>
          <p:cNvSpPr>
            <a:spLocks noGrp="1"/>
          </p:cNvSpPr>
          <p:nvPr>
            <p:ph idx="1"/>
          </p:nvPr>
        </p:nvSpPr>
        <p:spPr>
          <a:xfrm>
            <a:off x="234462" y="1383323"/>
            <a:ext cx="11574584" cy="5291015"/>
          </a:xfrm>
        </p:spPr>
        <p:txBody>
          <a:bodyPr>
            <a:normAutofit fontScale="92500" lnSpcReduction="10000"/>
          </a:bodyPr>
          <a:lstStyle/>
          <a:p>
            <a:r>
              <a:rPr lang="en-GB" dirty="0">
                <a:highlight>
                  <a:srgbClr val="FFFF00"/>
                </a:highlight>
              </a:rPr>
              <a:t>4 Recorded testers </a:t>
            </a:r>
            <a:r>
              <a:rPr lang="en-GB" dirty="0"/>
              <a:t>played the prototypes and were asked to navigate to the objective without explicit directional instructions</a:t>
            </a:r>
          </a:p>
          <a:p>
            <a:r>
              <a:rPr lang="en-GB" dirty="0"/>
              <a:t>What was measured:</a:t>
            </a:r>
          </a:p>
          <a:p>
            <a:pPr lvl="1">
              <a:buFont typeface="Arial" panose="020B0604020202020204" pitchFamily="34" charset="0"/>
              <a:buChar char="•"/>
            </a:pPr>
            <a:r>
              <a:rPr lang="en-GB" dirty="0"/>
              <a:t>Objective completion</a:t>
            </a:r>
          </a:p>
          <a:p>
            <a:pPr lvl="1">
              <a:buFont typeface="Arial" panose="020B0604020202020204" pitchFamily="34" charset="0"/>
              <a:buChar char="•"/>
            </a:pPr>
            <a:r>
              <a:rPr lang="en-GB" dirty="0"/>
              <a:t>Completion time</a:t>
            </a:r>
          </a:p>
          <a:p>
            <a:pPr lvl="1">
              <a:buFont typeface="Arial" panose="020B0604020202020204" pitchFamily="34" charset="0"/>
              <a:buChar char="•"/>
            </a:pPr>
            <a:r>
              <a:rPr lang="en-GB" dirty="0"/>
              <a:t>Navigation confidence </a:t>
            </a:r>
          </a:p>
          <a:p>
            <a:pPr lvl="1">
              <a:buFont typeface="Arial" panose="020B0604020202020204" pitchFamily="34" charset="0"/>
              <a:buChar char="•"/>
            </a:pPr>
            <a:r>
              <a:rPr lang="en-GB" dirty="0"/>
              <a:t>Wrong turns/hesitation </a:t>
            </a:r>
          </a:p>
          <a:p>
            <a:pPr lvl="1">
              <a:buFont typeface="Arial" panose="020B0604020202020204" pitchFamily="34" charset="0"/>
              <a:buChar char="•"/>
            </a:pPr>
            <a:r>
              <a:rPr lang="en-GB" dirty="0"/>
              <a:t>Player Feedback</a:t>
            </a:r>
          </a:p>
          <a:p>
            <a:pPr lvl="1"/>
            <a:r>
              <a:rPr lang="en-GB" dirty="0"/>
              <a:t>Recorded Results </a:t>
            </a:r>
          </a:p>
          <a:p>
            <a:pPr lvl="1"/>
            <a:r>
              <a:rPr lang="en-GB" dirty="0"/>
              <a:t>Key Findings</a:t>
            </a:r>
          </a:p>
          <a:p>
            <a:pPr lvl="1">
              <a:buFont typeface="Arial" panose="020B0604020202020204" pitchFamily="34" charset="0"/>
              <a:buChar char="•"/>
            </a:pPr>
            <a:r>
              <a:rPr lang="en-GB" b="1" dirty="0"/>
              <a:t>Lighting</a:t>
            </a:r>
            <a:r>
              <a:rPr lang="en-GB" dirty="0"/>
              <a:t> – Successfully attracted player attention </a:t>
            </a:r>
          </a:p>
          <a:p>
            <a:pPr lvl="1">
              <a:buFont typeface="Arial" panose="020B0604020202020204" pitchFamily="34" charset="0"/>
              <a:buChar char="•"/>
            </a:pPr>
            <a:r>
              <a:rPr lang="en-GB" b="1" dirty="0"/>
              <a:t>Architecture</a:t>
            </a:r>
            <a:r>
              <a:rPr lang="en-GB" dirty="0"/>
              <a:t> – Strongest and most direct route influence </a:t>
            </a:r>
          </a:p>
          <a:p>
            <a:pPr lvl="1">
              <a:buFont typeface="Arial" panose="020B0604020202020204" pitchFamily="34" charset="0"/>
              <a:buChar char="•"/>
            </a:pPr>
            <a:r>
              <a:rPr lang="en-GB" b="1" dirty="0"/>
              <a:t>Landmarks</a:t>
            </a:r>
            <a:r>
              <a:rPr lang="en-GB" dirty="0"/>
              <a:t> – Initially difficult to isolate, but became more effective after removing competing routes</a:t>
            </a:r>
          </a:p>
          <a:p>
            <a:pPr lvl="1"/>
            <a:r>
              <a:rPr lang="en-GB" dirty="0"/>
              <a:t>The environment influenced navigation, but competing environmental cues could change how players interpreted the intended guidance </a:t>
            </a:r>
          </a:p>
          <a:p>
            <a:pPr lvl="1">
              <a:buFont typeface="Arial" panose="020B0604020202020204" pitchFamily="34" charset="0"/>
              <a:buChar char="•"/>
            </a:pPr>
            <a:endParaRPr lang="en-GB" dirty="0"/>
          </a:p>
        </p:txBody>
      </p:sp>
      <p:pic>
        <p:nvPicPr>
          <p:cNvPr id="5" name="Picture 4">
            <a:extLst>
              <a:ext uri="{FF2B5EF4-FFF2-40B4-BE49-F238E27FC236}">
                <a16:creationId xmlns:a16="http://schemas.microsoft.com/office/drawing/2014/main" id="{3C2044FC-2B55-DD40-8BC6-278C4D99CB10}"/>
              </a:ext>
            </a:extLst>
          </p:cNvPr>
          <p:cNvPicPr>
            <a:picLocks noChangeAspect="1"/>
          </p:cNvPicPr>
          <p:nvPr/>
        </p:nvPicPr>
        <p:blipFill>
          <a:blip r:embed="rId3"/>
          <a:stretch>
            <a:fillRect/>
          </a:stretch>
        </p:blipFill>
        <p:spPr>
          <a:xfrm>
            <a:off x="5348472" y="2041696"/>
            <a:ext cx="5822128" cy="2774608"/>
          </a:xfrm>
          <a:prstGeom prst="rect">
            <a:avLst/>
          </a:prstGeom>
        </p:spPr>
      </p:pic>
      <p:cxnSp>
        <p:nvCxnSpPr>
          <p:cNvPr id="7" name="Connector: Elbow 6">
            <a:extLst>
              <a:ext uri="{FF2B5EF4-FFF2-40B4-BE49-F238E27FC236}">
                <a16:creationId xmlns:a16="http://schemas.microsoft.com/office/drawing/2014/main" id="{FA2BEE86-7F6E-8CFA-7097-69DAB7CAFA1F}"/>
              </a:ext>
            </a:extLst>
          </p:cNvPr>
          <p:cNvCxnSpPr>
            <a:cxnSpLocks/>
          </p:cNvCxnSpPr>
          <p:nvPr/>
        </p:nvCxnSpPr>
        <p:spPr>
          <a:xfrm flipV="1">
            <a:off x="2422769" y="3429000"/>
            <a:ext cx="2925703" cy="1299308"/>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425348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51A982-2AF6-A96C-17D8-547C3B783C3A}"/>
              </a:ext>
            </a:extLst>
          </p:cNvPr>
          <p:cNvSpPr>
            <a:spLocks noGrp="1"/>
          </p:cNvSpPr>
          <p:nvPr>
            <p:ph type="title"/>
          </p:nvPr>
        </p:nvSpPr>
        <p:spPr/>
        <p:txBody>
          <a:bodyPr>
            <a:normAutofit/>
          </a:bodyPr>
          <a:lstStyle/>
          <a:p>
            <a:r>
              <a:rPr lang="en-GB" dirty="0"/>
              <a:t>Answer to research question (v important)</a:t>
            </a:r>
          </a:p>
        </p:txBody>
      </p:sp>
      <p:sp>
        <p:nvSpPr>
          <p:cNvPr id="3" name="Content Placeholder 2">
            <a:extLst>
              <a:ext uri="{FF2B5EF4-FFF2-40B4-BE49-F238E27FC236}">
                <a16:creationId xmlns:a16="http://schemas.microsoft.com/office/drawing/2014/main" id="{9DE25584-F81C-4F64-00B8-7D8D5D20E521}"/>
              </a:ext>
            </a:extLst>
          </p:cNvPr>
          <p:cNvSpPr>
            <a:spLocks noGrp="1"/>
          </p:cNvSpPr>
          <p:nvPr>
            <p:ph idx="1"/>
          </p:nvPr>
        </p:nvSpPr>
        <p:spPr/>
        <p:txBody>
          <a:bodyPr/>
          <a:lstStyle/>
          <a:p>
            <a:r>
              <a:rPr lang="en-GB" dirty="0"/>
              <a:t>What did I actually discover from making these </a:t>
            </a:r>
            <a:r>
              <a:rPr lang="en-GB" dirty="0" err="1"/>
              <a:t>protoypes</a:t>
            </a:r>
            <a:r>
              <a:rPr lang="en-GB" dirty="0"/>
              <a:t> </a:t>
            </a:r>
          </a:p>
        </p:txBody>
      </p:sp>
    </p:spTree>
    <p:extLst>
      <p:ext uri="{BB962C8B-B14F-4D97-AF65-F5344CB8AC3E}">
        <p14:creationId xmlns:p14="http://schemas.microsoft.com/office/powerpoint/2010/main" val="63232490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D9E65F-047B-1D27-3CDD-577E9D2E077F}"/>
              </a:ext>
            </a:extLst>
          </p:cNvPr>
          <p:cNvSpPr>
            <a:spLocks noGrp="1"/>
          </p:cNvSpPr>
          <p:nvPr>
            <p:ph type="title"/>
          </p:nvPr>
        </p:nvSpPr>
        <p:spPr/>
        <p:txBody>
          <a:bodyPr/>
          <a:lstStyle/>
          <a:p>
            <a:r>
              <a:rPr lang="en-GB" dirty="0"/>
              <a:t>Audience and Value</a:t>
            </a:r>
          </a:p>
        </p:txBody>
      </p:sp>
      <p:sp>
        <p:nvSpPr>
          <p:cNvPr id="3" name="Content Placeholder 2">
            <a:extLst>
              <a:ext uri="{FF2B5EF4-FFF2-40B4-BE49-F238E27FC236}">
                <a16:creationId xmlns:a16="http://schemas.microsoft.com/office/drawing/2014/main" id="{A155C844-6721-1FFB-5AAC-732680A71CE4}"/>
              </a:ext>
            </a:extLst>
          </p:cNvPr>
          <p:cNvSpPr>
            <a:spLocks noGrp="1"/>
          </p:cNvSpPr>
          <p:nvPr>
            <p:ph idx="1"/>
          </p:nvPr>
        </p:nvSpPr>
        <p:spPr/>
        <p:txBody>
          <a:bodyPr/>
          <a:lstStyle/>
          <a:p>
            <a:r>
              <a:rPr lang="en-GB" dirty="0"/>
              <a:t>Intended audience </a:t>
            </a:r>
          </a:p>
          <a:p>
            <a:r>
              <a:rPr lang="en-GB" dirty="0"/>
              <a:t>How the artefact could help level/</a:t>
            </a:r>
            <a:r>
              <a:rPr lang="en-GB" dirty="0" err="1"/>
              <a:t>envioromental</a:t>
            </a:r>
            <a:r>
              <a:rPr lang="en-GB" dirty="0"/>
              <a:t> designers </a:t>
            </a:r>
          </a:p>
          <a:p>
            <a:r>
              <a:rPr lang="en-GB" dirty="0"/>
              <a:t>Portfolio value </a:t>
            </a:r>
          </a:p>
          <a:p>
            <a:r>
              <a:rPr lang="en-GB" dirty="0"/>
              <a:t>What the project demonstrates for me (this will make me look like a good designer </a:t>
            </a:r>
            <a:r>
              <a:rPr lang="en-GB" dirty="0" err="1"/>
              <a:t>eg</a:t>
            </a:r>
            <a:r>
              <a:rPr lang="en-GB" dirty="0"/>
              <a:t>)</a:t>
            </a:r>
          </a:p>
          <a:p>
            <a:endParaRPr lang="en-GB" dirty="0"/>
          </a:p>
        </p:txBody>
      </p:sp>
    </p:spTree>
    <p:extLst>
      <p:ext uri="{BB962C8B-B14F-4D97-AF65-F5344CB8AC3E}">
        <p14:creationId xmlns:p14="http://schemas.microsoft.com/office/powerpoint/2010/main" val="399043618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B51CEB-0641-6CD0-48DC-0D179CB5649A}"/>
              </a:ext>
            </a:extLst>
          </p:cNvPr>
          <p:cNvSpPr>
            <a:spLocks noGrp="1"/>
          </p:cNvSpPr>
          <p:nvPr>
            <p:ph type="title"/>
          </p:nvPr>
        </p:nvSpPr>
        <p:spPr/>
        <p:txBody>
          <a:bodyPr/>
          <a:lstStyle/>
          <a:p>
            <a:r>
              <a:rPr lang="en-GB" dirty="0"/>
              <a:t>Reflection and Future work</a:t>
            </a:r>
          </a:p>
        </p:txBody>
      </p:sp>
      <p:sp>
        <p:nvSpPr>
          <p:cNvPr id="3" name="Content Placeholder 2">
            <a:extLst>
              <a:ext uri="{FF2B5EF4-FFF2-40B4-BE49-F238E27FC236}">
                <a16:creationId xmlns:a16="http://schemas.microsoft.com/office/drawing/2014/main" id="{7B867102-7AF4-D2BB-9226-EE74A5C68A21}"/>
              </a:ext>
            </a:extLst>
          </p:cNvPr>
          <p:cNvSpPr>
            <a:spLocks noGrp="1"/>
          </p:cNvSpPr>
          <p:nvPr>
            <p:ph idx="1"/>
          </p:nvPr>
        </p:nvSpPr>
        <p:spPr/>
        <p:txBody>
          <a:bodyPr>
            <a:normAutofit lnSpcReduction="10000"/>
          </a:bodyPr>
          <a:lstStyle/>
          <a:p>
            <a:r>
              <a:rPr lang="en-GB" dirty="0"/>
              <a:t>What worked</a:t>
            </a:r>
          </a:p>
          <a:p>
            <a:r>
              <a:rPr lang="en-GB" dirty="0"/>
              <a:t>What didn’t </a:t>
            </a:r>
          </a:p>
          <a:p>
            <a:r>
              <a:rPr lang="en-GB" dirty="0"/>
              <a:t>(</a:t>
            </a:r>
            <a:r>
              <a:rPr lang="en-GB" dirty="0" err="1"/>
              <a:t>Greybox</a:t>
            </a:r>
            <a:r>
              <a:rPr lang="en-GB" dirty="0"/>
              <a:t> for certain methods, P3, Finding Testers)</a:t>
            </a:r>
          </a:p>
          <a:p>
            <a:r>
              <a:rPr lang="en-GB" dirty="0"/>
              <a:t>Limitations </a:t>
            </a:r>
          </a:p>
          <a:p>
            <a:r>
              <a:rPr lang="en-GB" dirty="0"/>
              <a:t>What I would change with more time </a:t>
            </a:r>
          </a:p>
          <a:p>
            <a:r>
              <a:rPr lang="en-GB" dirty="0"/>
              <a:t>Potential for combing </a:t>
            </a:r>
            <a:r>
              <a:rPr lang="en-GB" dirty="0" err="1"/>
              <a:t>techniqeus</a:t>
            </a:r>
            <a:r>
              <a:rPr lang="en-GB" dirty="0"/>
              <a:t> </a:t>
            </a:r>
          </a:p>
          <a:p>
            <a:endParaRPr lang="en-GB" dirty="0"/>
          </a:p>
          <a:p>
            <a:r>
              <a:rPr lang="en-GB" dirty="0"/>
              <a:t>I chose to do this as I am very passionate about game design and want to deepen my career into level design and Technical Design and I got to </a:t>
            </a:r>
            <a:r>
              <a:rPr lang="en-GB" dirty="0" err="1"/>
              <a:t>experemtn</a:t>
            </a:r>
            <a:r>
              <a:rPr lang="en-GB" dirty="0"/>
              <a:t> with that and the different methods of how to do that </a:t>
            </a:r>
          </a:p>
          <a:p>
            <a:endParaRPr lang="en-GB" dirty="0"/>
          </a:p>
        </p:txBody>
      </p:sp>
    </p:spTree>
    <p:extLst>
      <p:ext uri="{BB962C8B-B14F-4D97-AF65-F5344CB8AC3E}">
        <p14:creationId xmlns:p14="http://schemas.microsoft.com/office/powerpoint/2010/main" val="88901915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5EA431-E4B1-EAA6-63A6-95690A63C2EB}"/>
              </a:ext>
            </a:extLst>
          </p:cNvPr>
          <p:cNvSpPr>
            <a:spLocks noGrp="1"/>
          </p:cNvSpPr>
          <p:nvPr>
            <p:ph type="title"/>
          </p:nvPr>
        </p:nvSpPr>
        <p:spPr/>
        <p:txBody>
          <a:bodyPr/>
          <a:lstStyle/>
          <a:p>
            <a:r>
              <a:rPr lang="en-GB" dirty="0"/>
              <a:t>Might get rid of bottom 2 for time</a:t>
            </a:r>
          </a:p>
        </p:txBody>
      </p:sp>
      <p:sp>
        <p:nvSpPr>
          <p:cNvPr id="3" name="Content Placeholder 2">
            <a:extLst>
              <a:ext uri="{FF2B5EF4-FFF2-40B4-BE49-F238E27FC236}">
                <a16:creationId xmlns:a16="http://schemas.microsoft.com/office/drawing/2014/main" id="{54E54EA5-D417-629C-7EFC-7C2FD4713BD2}"/>
              </a:ext>
            </a:extLst>
          </p:cNvPr>
          <p:cNvSpPr>
            <a:spLocks noGrp="1"/>
          </p:cNvSpPr>
          <p:nvPr>
            <p:ph idx="1"/>
          </p:nvPr>
        </p:nvSpPr>
        <p:spPr/>
        <p:txBody>
          <a:bodyPr/>
          <a:lstStyle/>
          <a:p>
            <a:endParaRPr lang="en-GB"/>
          </a:p>
        </p:txBody>
      </p:sp>
    </p:spTree>
    <p:extLst>
      <p:ext uri="{BB962C8B-B14F-4D97-AF65-F5344CB8AC3E}">
        <p14:creationId xmlns:p14="http://schemas.microsoft.com/office/powerpoint/2010/main" val="140017105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AE36F6-3FDD-FACF-3F94-8EA001B09A25}"/>
              </a:ext>
            </a:extLst>
          </p:cNvPr>
          <p:cNvSpPr>
            <a:spLocks noGrp="1"/>
          </p:cNvSpPr>
          <p:nvPr>
            <p:ph type="title"/>
          </p:nvPr>
        </p:nvSpPr>
        <p:spPr/>
        <p:txBody>
          <a:bodyPr/>
          <a:lstStyle/>
          <a:p>
            <a:r>
              <a:rPr lang="en-GB" dirty="0"/>
              <a:t>What didn’t work</a:t>
            </a:r>
          </a:p>
        </p:txBody>
      </p:sp>
      <p:sp>
        <p:nvSpPr>
          <p:cNvPr id="3" name="Content Placeholder 2">
            <a:extLst>
              <a:ext uri="{FF2B5EF4-FFF2-40B4-BE49-F238E27FC236}">
                <a16:creationId xmlns:a16="http://schemas.microsoft.com/office/drawing/2014/main" id="{A1A2AABE-4C65-4629-68E4-342D714104C3}"/>
              </a:ext>
            </a:extLst>
          </p:cNvPr>
          <p:cNvSpPr>
            <a:spLocks noGrp="1"/>
          </p:cNvSpPr>
          <p:nvPr>
            <p:ph idx="1"/>
          </p:nvPr>
        </p:nvSpPr>
        <p:spPr/>
        <p:txBody>
          <a:bodyPr/>
          <a:lstStyle/>
          <a:p>
            <a:r>
              <a:rPr lang="en-GB" dirty="0"/>
              <a:t>Third Prototype (Landmarks)</a:t>
            </a:r>
          </a:p>
          <a:p>
            <a:r>
              <a:rPr lang="en-GB" dirty="0"/>
              <a:t>Hard to differentiate between the second and third prototype</a:t>
            </a:r>
          </a:p>
          <a:p>
            <a:r>
              <a:rPr lang="en-GB" dirty="0"/>
              <a:t>Testing proved this too </a:t>
            </a:r>
          </a:p>
          <a:p>
            <a:endParaRPr lang="en-GB" dirty="0"/>
          </a:p>
          <a:p>
            <a:r>
              <a:rPr lang="en-GB" dirty="0"/>
              <a:t>Changes made </a:t>
            </a:r>
          </a:p>
          <a:p>
            <a:r>
              <a:rPr lang="en-GB" dirty="0"/>
              <a:t>A lot more open space </a:t>
            </a:r>
          </a:p>
          <a:p>
            <a:r>
              <a:rPr lang="en-GB" dirty="0"/>
              <a:t>Reduce architectural guidance </a:t>
            </a:r>
          </a:p>
        </p:txBody>
      </p:sp>
    </p:spTree>
    <p:extLst>
      <p:ext uri="{BB962C8B-B14F-4D97-AF65-F5344CB8AC3E}">
        <p14:creationId xmlns:p14="http://schemas.microsoft.com/office/powerpoint/2010/main" val="355389566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E1324C-C179-B77E-3B33-B73EBD32E436}"/>
              </a:ext>
            </a:extLst>
          </p:cNvPr>
          <p:cNvSpPr>
            <a:spLocks noGrp="1"/>
          </p:cNvSpPr>
          <p:nvPr>
            <p:ph type="title"/>
          </p:nvPr>
        </p:nvSpPr>
        <p:spPr/>
        <p:txBody>
          <a:bodyPr/>
          <a:lstStyle/>
          <a:p>
            <a:r>
              <a:rPr lang="en-GB" dirty="0"/>
              <a:t>Conclusion </a:t>
            </a:r>
          </a:p>
        </p:txBody>
      </p:sp>
      <p:sp>
        <p:nvSpPr>
          <p:cNvPr id="3" name="Content Placeholder 2">
            <a:extLst>
              <a:ext uri="{FF2B5EF4-FFF2-40B4-BE49-F238E27FC236}">
                <a16:creationId xmlns:a16="http://schemas.microsoft.com/office/drawing/2014/main" id="{3C4C472E-29CD-2C27-5E9A-02B03D988DA0}"/>
              </a:ext>
            </a:extLst>
          </p:cNvPr>
          <p:cNvSpPr>
            <a:spLocks noGrp="1"/>
          </p:cNvSpPr>
          <p:nvPr>
            <p:ph idx="1"/>
          </p:nvPr>
        </p:nvSpPr>
        <p:spPr/>
        <p:txBody>
          <a:bodyPr/>
          <a:lstStyle/>
          <a:p>
            <a:r>
              <a:rPr lang="en-GB" dirty="0"/>
              <a:t>Short final summary</a:t>
            </a:r>
          </a:p>
          <a:p>
            <a:r>
              <a:rPr lang="en-GB" dirty="0"/>
              <a:t>Research question </a:t>
            </a:r>
          </a:p>
          <a:p>
            <a:r>
              <a:rPr lang="en-GB" dirty="0"/>
              <a:t>Main finding </a:t>
            </a:r>
          </a:p>
          <a:p>
            <a:r>
              <a:rPr lang="en-GB" dirty="0"/>
              <a:t>What the project demonstrates </a:t>
            </a:r>
          </a:p>
        </p:txBody>
      </p:sp>
    </p:spTree>
    <p:extLst>
      <p:ext uri="{BB962C8B-B14F-4D97-AF65-F5344CB8AC3E}">
        <p14:creationId xmlns:p14="http://schemas.microsoft.com/office/powerpoint/2010/main" val="1142626225"/>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on">
  <a:themeElements>
    <a:clrScheme name="Green Yellow">
      <a:dk1>
        <a:sysClr val="windowText" lastClr="000000"/>
      </a:dk1>
      <a:lt1>
        <a:sysClr val="window" lastClr="FFFFFF"/>
      </a:lt1>
      <a:dk2>
        <a:srgbClr val="455F51"/>
      </a:dk2>
      <a:lt2>
        <a:srgbClr val="E2DFCC"/>
      </a:lt2>
      <a:accent1>
        <a:srgbClr val="99CB38"/>
      </a:accent1>
      <a:accent2>
        <a:srgbClr val="63A537"/>
      </a:accent2>
      <a:accent3>
        <a:srgbClr val="37A76F"/>
      </a:accent3>
      <a:accent4>
        <a:srgbClr val="44C1A3"/>
      </a:accent4>
      <a:accent5>
        <a:srgbClr val="4EB3CF"/>
      </a:accent5>
      <a:accent6>
        <a:srgbClr val="51C3F9"/>
      </a:accent6>
      <a:hlink>
        <a:srgbClr val="EE7B08"/>
      </a:hlink>
      <a:folHlink>
        <a:srgbClr val="977B2D"/>
      </a:folHlink>
    </a:clrScheme>
    <a:fontScheme name="Ion">
      <a:majorFont>
        <a:latin typeface="Century Gothic" panose="020B050202020202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B050202020202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7000"/>
                <a:hueMod val="88000"/>
                <a:satMod val="130000"/>
                <a:lumMod val="124000"/>
              </a:schemeClr>
            </a:gs>
            <a:gs pos="100000">
              <a:schemeClr val="phClr">
                <a:tint val="96000"/>
                <a:shade val="88000"/>
                <a:hueMod val="108000"/>
                <a:satMod val="164000"/>
                <a:lumMod val="76000"/>
              </a:schemeClr>
            </a:gs>
          </a:gsLst>
          <a:path path="circle">
            <a:fillToRect l="45000" t="65000" r="125000" b="100000"/>
          </a:path>
        </a:gradFill>
        <a:blipFill rotWithShape="1">
          <a:blip xmlns:r="http://schemas.openxmlformats.org/officeDocument/2006/relationships" r:embed="rId1">
            <a:duotone>
              <a:schemeClr val="phClr">
                <a:shade val="69000"/>
                <a:hueMod val="108000"/>
                <a:satMod val="164000"/>
                <a:lumMod val="74000"/>
              </a:schemeClr>
              <a:schemeClr val="phClr">
                <a:tint val="96000"/>
                <a:hueMod val="88000"/>
                <a:satMod val="140000"/>
                <a:lumMod val="132000"/>
              </a:schemeClr>
            </a:duotone>
          </a:blip>
          <a:stretch/>
        </a:blipFill>
      </a:bgFillStyleLst>
    </a:fmtScheme>
  </a:themeElements>
  <a:objectDefaults/>
  <a:extraClrSchemeLst/>
  <a:extLst>
    <a:ext uri="{05A4C25C-085E-4340-85A3-A5531E510DB2}">
      <thm15:themeFamily xmlns:thm15="http://schemas.microsoft.com/office/thememl/2012/main" name="Ion" id="{B8441ADB-2E43-4AF7-B97A-BD870242C6A8}" vid="{292E63A9-BB86-4E3D-B92A-7223C6510D2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TM02836342[[fn=Ion]]</Template>
  <TotalTime>1707</TotalTime>
  <Words>1614</Words>
  <Application>Microsoft Office PowerPoint</Application>
  <PresentationFormat>Widescreen</PresentationFormat>
  <Paragraphs>160</Paragraphs>
  <Slides>16</Slides>
  <Notes>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vt:i4>
      </vt:variant>
    </vt:vector>
  </HeadingPairs>
  <TitlesOfParts>
    <vt:vector size="21" baseType="lpstr">
      <vt:lpstr>Aptos</vt:lpstr>
      <vt:lpstr>Arial</vt:lpstr>
      <vt:lpstr>Century Gothic</vt:lpstr>
      <vt:lpstr>Wingdings 3</vt:lpstr>
      <vt:lpstr>Ion</vt:lpstr>
      <vt:lpstr>Environmental Guidance in Digital Games: Influencing Player Navigation Without Explicit Instruction  </vt:lpstr>
      <vt:lpstr>Context</vt:lpstr>
      <vt:lpstr>Research and Development Approach</vt:lpstr>
      <vt:lpstr>Prototype 1: Lighting</vt:lpstr>
      <vt:lpstr>PowerPoint Presentation</vt:lpstr>
      <vt:lpstr>Prototype 2 – Architectural guidance </vt:lpstr>
      <vt:lpstr>PowerPoint Presentation</vt:lpstr>
      <vt:lpstr>Prototype 3 - Landmarks</vt:lpstr>
      <vt:lpstr>PowerPoint Presentation</vt:lpstr>
      <vt:lpstr>Testing and Findings </vt:lpstr>
      <vt:lpstr>Answer to research question (v important)</vt:lpstr>
      <vt:lpstr>Audience and Value</vt:lpstr>
      <vt:lpstr>Reflection and Future work</vt:lpstr>
      <vt:lpstr>Might get rid of bottom 2 for time</vt:lpstr>
      <vt:lpstr>What didn’t work</vt:lpstr>
      <vt:lpstr>Conclusion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morgan hodge</dc:creator>
  <cp:lastModifiedBy>morgan hodge</cp:lastModifiedBy>
  <cp:revision>25</cp:revision>
  <dcterms:created xsi:type="dcterms:W3CDTF">2026-08-20T14:07:00Z</dcterms:created>
  <dcterms:modified xsi:type="dcterms:W3CDTF">2026-09-06T14:40:55Z</dcterms:modified>
</cp:coreProperties>
</file>