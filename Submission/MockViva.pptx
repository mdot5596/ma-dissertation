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3" r:id="rId1"/>
  </p:sldMasterIdLst>
  <p:sldIdLst>
    <p:sldId id="256" r:id="rId2"/>
    <p:sldId id="261" r:id="rId3"/>
    <p:sldId id="262" r:id="rId4"/>
    <p:sldId id="263" r:id="rId5"/>
    <p:sldId id="276" r:id="rId6"/>
    <p:sldId id="264" r:id="rId7"/>
    <p:sldId id="275" r:id="rId8"/>
    <p:sldId id="265" r:id="rId9"/>
    <p:sldId id="273" r:id="rId10"/>
    <p:sldId id="267" r:id="rId11"/>
    <p:sldId id="268" r:id="rId12"/>
    <p:sldId id="269" r:id="rId13"/>
    <p:sldId id="270" r:id="rId14"/>
    <p:sldId id="272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65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776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691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122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698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000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59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9981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425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3711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340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3806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2983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229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229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6531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5616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048BBD51-FD46-433A-BCDC-3AD25804D4B9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1846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48BBD51-FD46-433A-BCDC-3AD25804D4B9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8611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847" r:id="rId14"/>
    <p:sldLayoutId id="2147483848" r:id="rId15"/>
    <p:sldLayoutId id="2147483849" r:id="rId16"/>
    <p:sldLayoutId id="2147483850" r:id="rId17"/>
    <p:sldLayoutId id="2147483851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306F-AB39-C9EF-96BF-AFB9F9E0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582" y="172279"/>
            <a:ext cx="10250558" cy="1127885"/>
          </a:xfrm>
        </p:spPr>
        <p:txBody>
          <a:bodyPr>
            <a:noAutofit/>
          </a:bodyPr>
          <a:lstStyle/>
          <a:p>
            <a:r>
              <a:rPr lang="en-GB" sz="2800" b="1" dirty="0"/>
              <a:t>Environmental Guidance in Digital Games: Influencing Player Navigation Without Explicit Instruction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231E6B-5F59-414C-E5FA-AED6A34E60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696" y="1300164"/>
            <a:ext cx="10316817" cy="5231707"/>
          </a:xfrm>
        </p:spPr>
        <p:txBody>
          <a:bodyPr>
            <a:normAutofit/>
          </a:bodyPr>
          <a:lstStyle/>
          <a:p>
            <a:pPr algn="ctr"/>
            <a:r>
              <a:rPr lang="en-GB" sz="2000" dirty="0"/>
              <a:t>Morgan Hodge</a:t>
            </a:r>
          </a:p>
          <a:p>
            <a:pPr algn="ctr"/>
            <a:r>
              <a:rPr lang="en-GB" sz="1400" dirty="0"/>
              <a:t>MA Game Design</a:t>
            </a:r>
            <a:endParaRPr lang="en-GB" dirty="0"/>
          </a:p>
          <a:p>
            <a:pPr algn="l"/>
            <a:r>
              <a:rPr lang="en-GB" sz="2400" b="1" dirty="0"/>
              <a:t>Research Question:</a:t>
            </a:r>
          </a:p>
          <a:p>
            <a:r>
              <a:rPr lang="en-GB" sz="2000" dirty="0"/>
              <a:t>Which environmental design techniques are most effective at influencing player navigation and decision making without explicit guidance systems?</a:t>
            </a:r>
          </a:p>
          <a:p>
            <a:endParaRPr lang="en-GB" sz="1900" dirty="0"/>
          </a:p>
          <a:p>
            <a:pPr algn="l"/>
            <a:r>
              <a:rPr lang="en-GB" sz="2400" b="1" dirty="0"/>
              <a:t>Project Overview: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3 prototypes exploring different environmental guidance techniques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User testing to measure how players respond to each technique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Analysis of which techniques are most effective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Posters and testing documentation provided for each prototype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Supported by background research into environmental guidance and player wayfinding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2241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3C8E9-AEAA-DF85-3BB9-455573093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52D00-E6FF-74B2-328F-72444F038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Player Navigation/Wayfinding</a:t>
            </a:r>
          </a:p>
          <a:p>
            <a:r>
              <a:rPr lang="en-GB" dirty="0"/>
              <a:t>The problem with explicit guidance </a:t>
            </a:r>
          </a:p>
          <a:p>
            <a:r>
              <a:rPr lang="en-GB" dirty="0"/>
              <a:t>Yellow tape debate (one of the biggest things)</a:t>
            </a:r>
          </a:p>
          <a:p>
            <a:r>
              <a:rPr lang="en-GB" dirty="0"/>
              <a:t>Why investigate environmental guidance</a:t>
            </a:r>
          </a:p>
        </p:txBody>
      </p:sp>
    </p:spTree>
    <p:extLst>
      <p:ext uri="{BB962C8B-B14F-4D97-AF65-F5344CB8AC3E}">
        <p14:creationId xmlns:p14="http://schemas.microsoft.com/office/powerpoint/2010/main" val="1257963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7BBB-B505-962E-B8D5-5D429CD55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and Development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D6257-497B-8E00-9FF0-E7FE394EB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Literature/ contextual research</a:t>
            </a:r>
          </a:p>
          <a:p>
            <a:r>
              <a:rPr lang="en-GB" dirty="0"/>
              <a:t>Analysis of existing games </a:t>
            </a:r>
          </a:p>
          <a:p>
            <a:r>
              <a:rPr lang="en-GB" dirty="0"/>
              <a:t>Prototype development </a:t>
            </a:r>
          </a:p>
          <a:p>
            <a:r>
              <a:rPr lang="en-GB" dirty="0"/>
              <a:t>User Testing</a:t>
            </a:r>
          </a:p>
          <a:p>
            <a:r>
              <a:rPr lang="en-GB" dirty="0"/>
              <a:t>Why Unreal Engine 5</a:t>
            </a:r>
          </a:p>
          <a:p>
            <a:endParaRPr lang="en-GB" dirty="0"/>
          </a:p>
          <a:p>
            <a:r>
              <a:rPr lang="en-GB" dirty="0"/>
              <a:t>Matrix, I made and poster ? Also maybe version control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FAA3DD-5585-1A5C-1BAF-4C71F1A29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799" y="1246609"/>
            <a:ext cx="4147590" cy="121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757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263E9-477E-5C76-C6C3-4EABB8CA2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Prototype 1: Lighting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7424C-4E47-17EC-C2A0-9F127197B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technique I investigated </a:t>
            </a:r>
          </a:p>
          <a:p>
            <a:r>
              <a:rPr lang="en-GB" dirty="0"/>
              <a:t>What I built</a:t>
            </a:r>
          </a:p>
          <a:p>
            <a:r>
              <a:rPr lang="en-GB" dirty="0"/>
              <a:t>How lighting guides the player</a:t>
            </a:r>
          </a:p>
          <a:p>
            <a:r>
              <a:rPr lang="en-GB" dirty="0"/>
              <a:t>What I learned </a:t>
            </a:r>
          </a:p>
        </p:txBody>
      </p:sp>
    </p:spTree>
    <p:extLst>
      <p:ext uri="{BB962C8B-B14F-4D97-AF65-F5344CB8AC3E}">
        <p14:creationId xmlns:p14="http://schemas.microsoft.com/office/powerpoint/2010/main" val="3681447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66014B-002F-F2FE-EDD8-C7253BAD0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82" y="201155"/>
            <a:ext cx="6433944" cy="25046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67781A-46BE-4147-E0DA-842619B7C5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87" t="4760" r="17824"/>
          <a:stretch>
            <a:fillRect/>
          </a:stretch>
        </p:blipFill>
        <p:spPr>
          <a:xfrm>
            <a:off x="6325548" y="1716204"/>
            <a:ext cx="5796654" cy="32004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556A91-9021-2A8F-0F7F-D3CC6C6D5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98" y="3316406"/>
            <a:ext cx="6095288" cy="3485474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A5C1B893-7686-7E2A-3BFB-467655A9DDAB}"/>
              </a:ext>
            </a:extLst>
          </p:cNvPr>
          <p:cNvSpPr/>
          <p:nvPr/>
        </p:nvSpPr>
        <p:spPr>
          <a:xfrm rot="826468">
            <a:off x="5307649" y="1064079"/>
            <a:ext cx="1714874" cy="7788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CBBD647-84B4-DF73-BCEA-075220C4AE72}"/>
              </a:ext>
            </a:extLst>
          </p:cNvPr>
          <p:cNvSpPr/>
          <p:nvPr/>
        </p:nvSpPr>
        <p:spPr>
          <a:xfrm rot="9977566">
            <a:off x="5387880" y="4432749"/>
            <a:ext cx="1714874" cy="7788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2694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F6B2B-DDD6-757A-0ABE-18DC2159B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Prototype 2 – Architectural guidance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33170-9047-DA77-A3FB-86F52660E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Layout</a:t>
            </a:r>
          </a:p>
          <a:p>
            <a:r>
              <a:rPr lang="en-GB" dirty="0"/>
              <a:t>Path width</a:t>
            </a:r>
          </a:p>
          <a:p>
            <a:r>
              <a:rPr lang="en-GB" dirty="0"/>
              <a:t>Compression/Release </a:t>
            </a:r>
          </a:p>
          <a:p>
            <a:r>
              <a:rPr lang="en-GB" dirty="0"/>
              <a:t>Framing</a:t>
            </a:r>
          </a:p>
          <a:p>
            <a:r>
              <a:rPr lang="en-GB" dirty="0"/>
              <a:t>How architecture </a:t>
            </a:r>
            <a:r>
              <a:rPr lang="en-GB" dirty="0" err="1"/>
              <a:t>influcences</a:t>
            </a:r>
            <a:r>
              <a:rPr lang="en-GB" dirty="0"/>
              <a:t> navigation </a:t>
            </a:r>
          </a:p>
          <a:p>
            <a:r>
              <a:rPr lang="en-GB" dirty="0"/>
              <a:t>What I learned </a:t>
            </a:r>
          </a:p>
        </p:txBody>
      </p:sp>
    </p:spTree>
    <p:extLst>
      <p:ext uri="{BB962C8B-B14F-4D97-AF65-F5344CB8AC3E}">
        <p14:creationId xmlns:p14="http://schemas.microsoft.com/office/powerpoint/2010/main" val="3206117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445825-A323-C7D7-3872-4B1C88472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91" y="191669"/>
            <a:ext cx="5626621" cy="23659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5B037B-20E7-B45B-A646-01076C1F9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081" y="1797392"/>
            <a:ext cx="5822128" cy="27746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69141A-AA08-5B07-9D4C-171D590A4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790" y="3753863"/>
            <a:ext cx="5626621" cy="2832465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55D585BE-1588-EC7E-81E6-F30EE2D491B5}"/>
              </a:ext>
            </a:extLst>
          </p:cNvPr>
          <p:cNvSpPr/>
          <p:nvPr/>
        </p:nvSpPr>
        <p:spPr>
          <a:xfrm rot="2222386">
            <a:off x="5173483" y="1967967"/>
            <a:ext cx="1714874" cy="7788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76841AF-695D-0FC5-9330-C16972FFACD9}"/>
              </a:ext>
            </a:extLst>
          </p:cNvPr>
          <p:cNvSpPr/>
          <p:nvPr/>
        </p:nvSpPr>
        <p:spPr>
          <a:xfrm rot="8826079">
            <a:off x="5499154" y="4586112"/>
            <a:ext cx="1714874" cy="7788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1489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B7034-7E2B-6B51-32F7-7AD641E57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2F990-5E58-E757-C367-451E60D51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Prototype 3 - Landmarks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244ED-4603-F27B-E7D9-C46B6A7F4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landmark (Watermill? Forgot )</a:t>
            </a:r>
          </a:p>
          <a:p>
            <a:r>
              <a:rPr lang="en-GB" dirty="0"/>
              <a:t>How it establishes orientation/direction </a:t>
            </a:r>
          </a:p>
          <a:p>
            <a:r>
              <a:rPr lang="en-GB" dirty="0"/>
              <a:t>Disney </a:t>
            </a:r>
            <a:r>
              <a:rPr lang="en-GB" dirty="0" err="1"/>
              <a:t>Weeeenieee</a:t>
            </a:r>
            <a:endParaRPr lang="en-GB" dirty="0"/>
          </a:p>
          <a:p>
            <a:r>
              <a:rPr lang="en-GB" dirty="0"/>
              <a:t>How the player uses it </a:t>
            </a:r>
          </a:p>
          <a:p>
            <a:r>
              <a:rPr lang="en-GB" dirty="0"/>
              <a:t>What I learned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964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D7DF1E-DD82-6009-8A3A-AAB4B60DD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498" y="1365260"/>
            <a:ext cx="3607657" cy="1879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39E4F7-E8B3-186B-2EC4-361491640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263" y="4257260"/>
            <a:ext cx="6095999" cy="20978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CA4696-F657-0EE3-7B45-0D8B4D305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33" y="263761"/>
            <a:ext cx="4784820" cy="2041449"/>
          </a:xfrm>
          <a:prstGeom prst="rect">
            <a:avLst/>
          </a:prstGeom>
        </p:spPr>
      </p:pic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1BCCDF77-8F88-454F-1DE5-0CEAC953FC53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4890053" y="1075443"/>
            <a:ext cx="4213274" cy="28981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932FA5BB-5CB8-6D3C-574B-00FF37FF4F82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7936745" y="3090678"/>
            <a:ext cx="1012100" cy="13210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5405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3D114-F04D-E719-3985-005B71AD2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Testing and Findings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94308-9325-1D03-22EB-E6F8E1E7B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I tested the prototypes </a:t>
            </a:r>
          </a:p>
          <a:p>
            <a:r>
              <a:rPr lang="en-GB" dirty="0"/>
              <a:t>What I observed </a:t>
            </a:r>
          </a:p>
          <a:p>
            <a:r>
              <a:rPr lang="en-GB" dirty="0"/>
              <a:t>Question are/Feedback Results </a:t>
            </a:r>
          </a:p>
          <a:p>
            <a:r>
              <a:rPr lang="en-GB" dirty="0"/>
              <a:t>Comparison between techniques </a:t>
            </a:r>
          </a:p>
        </p:txBody>
      </p:sp>
    </p:spTree>
    <p:extLst>
      <p:ext uri="{BB962C8B-B14F-4D97-AF65-F5344CB8AC3E}">
        <p14:creationId xmlns:p14="http://schemas.microsoft.com/office/powerpoint/2010/main" val="254253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1A982-2AF6-A96C-17D8-547C3B783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Answer to research question (v important)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25584-F81C-4F64-00B8-7D8D5D20E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did I actually discover from making these </a:t>
            </a:r>
            <a:r>
              <a:rPr lang="en-GB" dirty="0" err="1"/>
              <a:t>protoypes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32324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9E65F-047B-1D27-3CDD-577E9D2E0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Audience and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5C844-6721-1FFB-5AAC-732680A71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Intended audience </a:t>
            </a:r>
          </a:p>
          <a:p>
            <a:r>
              <a:rPr lang="en-GB" dirty="0"/>
              <a:t>How the artefact could help level/</a:t>
            </a:r>
            <a:r>
              <a:rPr lang="en-GB" dirty="0" err="1"/>
              <a:t>envioromental</a:t>
            </a:r>
            <a:r>
              <a:rPr lang="en-GB" dirty="0"/>
              <a:t> designers </a:t>
            </a:r>
          </a:p>
          <a:p>
            <a:r>
              <a:rPr lang="en-GB" dirty="0"/>
              <a:t>Portfolio value </a:t>
            </a:r>
          </a:p>
          <a:p>
            <a:r>
              <a:rPr lang="en-GB" dirty="0"/>
              <a:t>What the project demonstrates for me (this will make me look like a good designer </a:t>
            </a:r>
            <a:r>
              <a:rPr lang="en-GB" dirty="0" err="1"/>
              <a:t>eg</a:t>
            </a:r>
            <a:r>
              <a:rPr lang="en-GB" dirty="0"/>
              <a:t>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0436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51CEB-0641-6CD0-48DC-0D179CB56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Reflection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67102-7AF4-D2BB-9226-EE74A5C68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worked</a:t>
            </a:r>
          </a:p>
          <a:p>
            <a:r>
              <a:rPr lang="en-GB" dirty="0"/>
              <a:t>What didn’t </a:t>
            </a:r>
          </a:p>
          <a:p>
            <a:r>
              <a:rPr lang="en-GB" dirty="0"/>
              <a:t>Limitations </a:t>
            </a:r>
          </a:p>
          <a:p>
            <a:r>
              <a:rPr lang="en-GB" dirty="0"/>
              <a:t>What I would change with more time </a:t>
            </a:r>
          </a:p>
          <a:p>
            <a:r>
              <a:rPr lang="en-GB" dirty="0"/>
              <a:t>Potential for combing </a:t>
            </a:r>
            <a:r>
              <a:rPr lang="en-GB" dirty="0" err="1"/>
              <a:t>techniqeus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89019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36F6-3FDD-FACF-3F94-8EA001B09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didn’t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2AABE-4C65-4629-68E4-342D71410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Third Prototype (Landmarks)</a:t>
            </a:r>
          </a:p>
          <a:p>
            <a:r>
              <a:rPr lang="en-GB" dirty="0"/>
              <a:t>Hard to differentiate between the second and third prototype</a:t>
            </a:r>
          </a:p>
          <a:p>
            <a:r>
              <a:rPr lang="en-GB" dirty="0"/>
              <a:t>Testing proved this too </a:t>
            </a:r>
          </a:p>
          <a:p>
            <a:endParaRPr lang="en-GB" dirty="0"/>
          </a:p>
          <a:p>
            <a:r>
              <a:rPr lang="en-GB" dirty="0"/>
              <a:t>Changes made </a:t>
            </a:r>
          </a:p>
          <a:p>
            <a:r>
              <a:rPr lang="en-GB" dirty="0"/>
              <a:t>A lot more open space </a:t>
            </a:r>
          </a:p>
          <a:p>
            <a:r>
              <a:rPr lang="en-GB" dirty="0"/>
              <a:t>Reduce architectural guidance </a:t>
            </a:r>
          </a:p>
        </p:txBody>
      </p:sp>
    </p:spTree>
    <p:extLst>
      <p:ext uri="{BB962C8B-B14F-4D97-AF65-F5344CB8AC3E}">
        <p14:creationId xmlns:p14="http://schemas.microsoft.com/office/powerpoint/2010/main" val="3553895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1324C-C179-B77E-3B33-B73EBD32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C472E-29CD-2C27-5E9A-02B03D988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Short final summary</a:t>
            </a:r>
          </a:p>
          <a:p>
            <a:r>
              <a:rPr lang="en-GB" dirty="0"/>
              <a:t>Research question </a:t>
            </a:r>
          </a:p>
          <a:p>
            <a:r>
              <a:rPr lang="en-GB" dirty="0"/>
              <a:t>Main finding </a:t>
            </a:r>
          </a:p>
          <a:p>
            <a:r>
              <a:rPr lang="en-GB" dirty="0"/>
              <a:t>What the project demonstrates </a:t>
            </a:r>
          </a:p>
        </p:txBody>
      </p:sp>
    </p:spTree>
    <p:extLst>
      <p:ext uri="{BB962C8B-B14F-4D97-AF65-F5344CB8AC3E}">
        <p14:creationId xmlns:p14="http://schemas.microsoft.com/office/powerpoint/2010/main" val="11426262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849</TotalTime>
  <Words>337</Words>
  <Application>Microsoft Office PowerPoint</Application>
  <PresentationFormat>Widescreen</PresentationFormat>
  <Paragraphs>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</vt:lpstr>
      <vt:lpstr>Environmental Guidance in Digital Games: Influencing Player Navigation Without Explicit Instruction  </vt:lpstr>
      <vt:lpstr>Context</vt:lpstr>
      <vt:lpstr>Research and Development Approach</vt:lpstr>
      <vt:lpstr>Prototype 1: Lighting</vt:lpstr>
      <vt:lpstr>PowerPoint Presentation</vt:lpstr>
      <vt:lpstr>Prototype 2 – Architectural guidance </vt:lpstr>
      <vt:lpstr>PowerPoint Presentation</vt:lpstr>
      <vt:lpstr>Prototype 3 - Landmarks</vt:lpstr>
      <vt:lpstr>PowerPoint Presentation</vt:lpstr>
      <vt:lpstr>Testing and Findings </vt:lpstr>
      <vt:lpstr>Answer to research question (v important)</vt:lpstr>
      <vt:lpstr>Audience and Value</vt:lpstr>
      <vt:lpstr>Reflection and Future work</vt:lpstr>
      <vt:lpstr>What didn’t work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morgan hodge</dc:creator>
  <cp:lastModifiedBy>morgan hodge</cp:lastModifiedBy>
  <cp:revision>10</cp:revision>
  <dcterms:created xsi:type="dcterms:W3CDTF">2026-08-20T14:07:00Z</dcterms:created>
  <dcterms:modified xsi:type="dcterms:W3CDTF">2026-08-28T22:44:31Z</dcterms:modified>
</cp:coreProperties>
</file>