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22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07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82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12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36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76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2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67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77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49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666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3658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576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593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590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93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60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960F2F5-2F2F-4A65-8AC6-0AF42D8123C9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7CF7A-2BD3-4410-AED9-8E63B73B7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94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9D46-5CA7-505A-552E-A45E4032C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639" y="1502082"/>
            <a:ext cx="10293215" cy="1843749"/>
          </a:xfrm>
        </p:spPr>
        <p:txBody>
          <a:bodyPr/>
          <a:lstStyle/>
          <a:p>
            <a:pPr algn="ctr"/>
            <a:r>
              <a:rPr lang="en-GB" sz="3600" dirty="0"/>
              <a:t>Environmental Guidance in Digital Games: Influencing Player Navigation Without Explicit Instruction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02293E-1EFA-592D-8FD0-D6E28D7D5C0D}"/>
              </a:ext>
            </a:extLst>
          </p:cNvPr>
          <p:cNvSpPr txBox="1">
            <a:spLocks/>
          </p:cNvSpPr>
          <p:nvPr/>
        </p:nvSpPr>
        <p:spPr>
          <a:xfrm>
            <a:off x="4793256" y="4232799"/>
            <a:ext cx="2605488" cy="4505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dirty="0"/>
              <a:t>Morgan Hodge</a:t>
            </a:r>
          </a:p>
        </p:txBody>
      </p:sp>
    </p:spTree>
    <p:extLst>
      <p:ext uri="{BB962C8B-B14F-4D97-AF65-F5344CB8AC3E}">
        <p14:creationId xmlns:p14="http://schemas.microsoft.com/office/powerpoint/2010/main" val="404863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499B-D391-1998-8220-49BBE4D5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403" y="342990"/>
            <a:ext cx="5215193" cy="918882"/>
          </a:xfrm>
        </p:spPr>
        <p:txBody>
          <a:bodyPr/>
          <a:lstStyle/>
          <a:p>
            <a:r>
              <a:rPr lang="en-GB" dirty="0"/>
              <a:t>Research Question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BB4E8-9CD9-54B3-6303-20D7037C9656}"/>
              </a:ext>
            </a:extLst>
          </p:cNvPr>
          <p:cNvSpPr txBox="1"/>
          <p:nvPr/>
        </p:nvSpPr>
        <p:spPr>
          <a:xfrm>
            <a:off x="402336" y="1737360"/>
            <a:ext cx="11045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Which environmental design techniques are most effective at influencing player navigation and decision making without explicit guidance systems?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674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7FC2-57B1-E355-B6E9-11837AE4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603" y="218699"/>
            <a:ext cx="6349049" cy="928026"/>
          </a:xfrm>
        </p:spPr>
        <p:txBody>
          <a:bodyPr/>
          <a:lstStyle/>
          <a:p>
            <a:r>
              <a:rPr lang="en-GB" dirty="0"/>
              <a:t>Context of my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CF51-1570-31C6-608A-BF8D56AD6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23" y="1411901"/>
            <a:ext cx="5233481" cy="48676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The Problem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Players need guidance to navigate game worlds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Traditional guidance systems include: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Quest markers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Mini map indicators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Tutorial Prompts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Coloured assets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GB" sz="2000" dirty="0"/>
          </a:p>
          <a:p>
            <a:r>
              <a:rPr lang="en-GB" dirty="0"/>
              <a:t>While these traditional methods are effective, they can reduce immersion and player discovery </a:t>
            </a:r>
          </a:p>
        </p:txBody>
      </p:sp>
      <p:pic>
        <p:nvPicPr>
          <p:cNvPr id="4" name="Picture 3" descr="Step 8 Play the objective.">
            <a:extLst>
              <a:ext uri="{FF2B5EF4-FFF2-40B4-BE49-F238E27FC236}">
                <a16:creationId xmlns:a16="http://schemas.microsoft.com/office/drawing/2014/main" id="{0FCEFB87-E5B3-DF2E-28F1-207336594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05" y="4846320"/>
            <a:ext cx="2601918" cy="1951439"/>
          </a:xfrm>
          <a:prstGeom prst="rect">
            <a:avLst/>
          </a:prstGeom>
        </p:spPr>
      </p:pic>
      <p:pic>
        <p:nvPicPr>
          <p:cNvPr id="5" name="Picture 4" descr="Red Dead Online Introduction Tutorial Walkthrough">
            <a:extLst>
              <a:ext uri="{FF2B5EF4-FFF2-40B4-BE49-F238E27FC236}">
                <a16:creationId xmlns:a16="http://schemas.microsoft.com/office/drawing/2014/main" id="{3207058F-157F-FD6A-01FA-3A16BD1E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5018058"/>
            <a:ext cx="3925030" cy="1651155"/>
          </a:xfrm>
          <a:prstGeom prst="rect">
            <a:avLst/>
          </a:prstGeom>
        </p:spPr>
      </p:pic>
      <p:pic>
        <p:nvPicPr>
          <p:cNvPr id="6" name="Picture 5" descr="game ui design mechanics">
            <a:extLst>
              <a:ext uri="{FF2B5EF4-FFF2-40B4-BE49-F238E27FC236}">
                <a16:creationId xmlns:a16="http://schemas.microsoft.com/office/drawing/2014/main" id="{EC286032-803B-723A-2764-9FC8E3E6C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464" y="1229021"/>
            <a:ext cx="5305590" cy="353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88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055B-BA0E-7B6B-4790-266BCA56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5981"/>
            <a:ext cx="9750552" cy="814451"/>
          </a:xfrm>
        </p:spPr>
        <p:txBody>
          <a:bodyPr/>
          <a:lstStyle/>
          <a:p>
            <a:r>
              <a:rPr lang="en-GB" dirty="0"/>
              <a:t>How does it fit into my specific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7F52-2185-E498-10FE-0C655B7F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803209"/>
            <a:ext cx="4309872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Design</a:t>
            </a:r>
          </a:p>
          <a:p>
            <a:pPr marL="0" indent="0" algn="ctr">
              <a:buNone/>
            </a:pPr>
            <a:endParaRPr lang="en-GB" dirty="0"/>
          </a:p>
          <a:p>
            <a:r>
              <a:rPr lang="en-GB" dirty="0"/>
              <a:t>Level Design </a:t>
            </a:r>
          </a:p>
          <a:p>
            <a:r>
              <a:rPr lang="en-GB" dirty="0"/>
              <a:t>Wayfinding</a:t>
            </a:r>
          </a:p>
          <a:p>
            <a:r>
              <a:rPr lang="en-GB" dirty="0"/>
              <a:t>Technical Design (Prototyping)</a:t>
            </a:r>
          </a:p>
          <a:p>
            <a:r>
              <a:rPr lang="en-GB" dirty="0"/>
              <a:t>Environmental Storytelling</a:t>
            </a:r>
          </a:p>
          <a:p>
            <a:r>
              <a:rPr lang="en-GB" dirty="0"/>
              <a:t>Player Psychology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40B481-5625-FAFE-2150-FA82F83CB1BC}"/>
              </a:ext>
            </a:extLst>
          </p:cNvPr>
          <p:cNvSpPr txBox="1">
            <a:spLocks/>
          </p:cNvSpPr>
          <p:nvPr/>
        </p:nvSpPr>
        <p:spPr>
          <a:xfrm>
            <a:off x="6818376" y="2026793"/>
            <a:ext cx="43098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GB" dirty="0"/>
              <a:t>Environmental Design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Player Attention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Navigation Decisions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Player Experience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3018F0-1C7B-073B-E40B-17374F32C13C}"/>
              </a:ext>
            </a:extLst>
          </p:cNvPr>
          <p:cNvCxnSpPr/>
          <p:nvPr/>
        </p:nvCxnSpPr>
        <p:spPr>
          <a:xfrm>
            <a:off x="8973312" y="2404872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9A3B40-6D40-6F1D-B75C-4F09CCE72D22}"/>
              </a:ext>
            </a:extLst>
          </p:cNvPr>
          <p:cNvCxnSpPr/>
          <p:nvPr/>
        </p:nvCxnSpPr>
        <p:spPr>
          <a:xfrm>
            <a:off x="8973312" y="3346704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9C50F3-D10A-35D4-98BA-BD5A4F99649F}"/>
              </a:ext>
            </a:extLst>
          </p:cNvPr>
          <p:cNvCxnSpPr/>
          <p:nvPr/>
        </p:nvCxnSpPr>
        <p:spPr>
          <a:xfrm>
            <a:off x="8982456" y="4202462"/>
            <a:ext cx="0" cy="502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04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0BC8-5934-97AC-5455-91A61D9F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7170"/>
          </a:xfrm>
        </p:spPr>
        <p:txBody>
          <a:bodyPr>
            <a:normAutofit/>
          </a:bodyPr>
          <a:lstStyle/>
          <a:p>
            <a:r>
              <a:rPr lang="en-GB" dirty="0"/>
              <a:t>Existing Research &amp; State of the 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D156B-516D-4D68-D36F-EE86596D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581912"/>
            <a:ext cx="3916680" cy="18470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Academic Sources </a:t>
            </a:r>
          </a:p>
          <a:p>
            <a:r>
              <a:rPr lang="en-GB" dirty="0"/>
              <a:t>Wayfinding research </a:t>
            </a:r>
          </a:p>
          <a:p>
            <a:r>
              <a:rPr lang="en-GB" dirty="0"/>
              <a:t>Cognitive maps</a:t>
            </a:r>
          </a:p>
          <a:p>
            <a:r>
              <a:rPr lang="en-GB" dirty="0"/>
              <a:t>Environmental cues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033305-6AD8-7969-69BF-11336851190F}"/>
              </a:ext>
            </a:extLst>
          </p:cNvPr>
          <p:cNvSpPr txBox="1">
            <a:spLocks/>
          </p:cNvSpPr>
          <p:nvPr/>
        </p:nvSpPr>
        <p:spPr>
          <a:xfrm>
            <a:off x="6239256" y="1581912"/>
            <a:ext cx="3916680" cy="1847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Industry sources </a:t>
            </a:r>
          </a:p>
          <a:p>
            <a:r>
              <a:rPr lang="en-GB" dirty="0"/>
              <a:t>Totten</a:t>
            </a:r>
          </a:p>
          <a:p>
            <a:r>
              <a:rPr lang="en-GB" dirty="0"/>
              <a:t>Kremers </a:t>
            </a:r>
          </a:p>
          <a:p>
            <a:r>
              <a:rPr lang="en-GB" dirty="0"/>
              <a:t>GDC talks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D328CF-A0DC-F782-5BF2-D2F5C325301C}"/>
              </a:ext>
            </a:extLst>
          </p:cNvPr>
          <p:cNvSpPr txBox="1">
            <a:spLocks/>
          </p:cNvSpPr>
          <p:nvPr/>
        </p:nvSpPr>
        <p:spPr>
          <a:xfrm>
            <a:off x="507459" y="5111496"/>
            <a:ext cx="11177081" cy="502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Extensive list of videos, books, and educational articles are listed in my proposal form</a:t>
            </a:r>
          </a:p>
          <a:p>
            <a:pPr marL="0" indent="0">
              <a:buFont typeface="Wingdings 3" charset="2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66F7-7AB2-C807-5800-FC353C35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05" y="297270"/>
            <a:ext cx="2331753" cy="928026"/>
          </a:xfrm>
        </p:spPr>
        <p:txBody>
          <a:bodyPr/>
          <a:lstStyle/>
          <a:p>
            <a:r>
              <a:rPr lang="en-GB" dirty="0"/>
              <a:t>Artefact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57817-3008-A9C8-81C4-BA5477735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793" y="2365249"/>
            <a:ext cx="5388928" cy="41954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Primary Artefact:</a:t>
            </a:r>
          </a:p>
          <a:p>
            <a:r>
              <a:rPr lang="en-GB" dirty="0"/>
              <a:t>4 Unreal Engine Prototypes</a:t>
            </a:r>
          </a:p>
          <a:p>
            <a:r>
              <a:rPr lang="en-GB" dirty="0"/>
              <a:t>Prototype 1  - Lighting</a:t>
            </a:r>
          </a:p>
          <a:p>
            <a:r>
              <a:rPr lang="en-GB" dirty="0"/>
              <a:t>Prototype 2 – Landmarks </a:t>
            </a:r>
          </a:p>
          <a:p>
            <a:r>
              <a:rPr lang="en-GB" dirty="0"/>
              <a:t>Prototype 3 – Audio </a:t>
            </a:r>
          </a:p>
          <a:p>
            <a:r>
              <a:rPr lang="en-GB" dirty="0"/>
              <a:t>Prototype 4 – Combined Techniques </a:t>
            </a:r>
          </a:p>
          <a:p>
            <a:pPr marL="0" indent="0">
              <a:buNone/>
            </a:pPr>
            <a:r>
              <a:rPr lang="en-GB" dirty="0"/>
              <a:t>Supporting Artefact:</a:t>
            </a:r>
          </a:p>
          <a:p>
            <a:r>
              <a:rPr lang="en-GB" dirty="0"/>
              <a:t>Research Blog/ development vlog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855F5-2AED-6AD8-6509-89CF2184D21A}"/>
              </a:ext>
            </a:extLst>
          </p:cNvPr>
          <p:cNvSpPr txBox="1"/>
          <p:nvPr/>
        </p:nvSpPr>
        <p:spPr>
          <a:xfrm>
            <a:off x="371793" y="1169966"/>
            <a:ext cx="785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Title - Environmental Guidance in Digital Games: Influencing Player Navigation Without Explicit Instruction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8A7C16-D21C-BA58-FA68-A945D829D6BB}"/>
              </a:ext>
            </a:extLst>
          </p:cNvPr>
          <p:cNvSpPr txBox="1">
            <a:spLocks/>
          </p:cNvSpPr>
          <p:nvPr/>
        </p:nvSpPr>
        <p:spPr>
          <a:xfrm>
            <a:off x="8612546" y="1275930"/>
            <a:ext cx="1316735" cy="434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/>
              <a:t>TimeLine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7F541-F548-F85E-96E8-45373882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330" y="1760968"/>
            <a:ext cx="4819169" cy="3738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246778-FC3A-C688-DFE9-331141E0E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330" y="5499367"/>
            <a:ext cx="4819169" cy="12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8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C765-55EB-3296-4026-BC08AEB8C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8126"/>
            <a:ext cx="9404723" cy="1400530"/>
          </a:xfrm>
        </p:spPr>
        <p:txBody>
          <a:bodyPr/>
          <a:lstStyle/>
          <a:p>
            <a:r>
              <a:rPr lang="en-GB" dirty="0"/>
              <a:t>Research &amp; 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EA8E-A18A-E00D-D6B4-440D0F553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169" y="1645920"/>
            <a:ext cx="3679000" cy="492395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Literature Review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Contextual Review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Prototype Development 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Playtesting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Analysis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Recommendations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BB1966-599E-D86B-A6FF-47F864C0E7A0}"/>
              </a:ext>
            </a:extLst>
          </p:cNvPr>
          <p:cNvCxnSpPr/>
          <p:nvPr/>
        </p:nvCxnSpPr>
        <p:spPr>
          <a:xfrm>
            <a:off x="6284080" y="1997874"/>
            <a:ext cx="0" cy="603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C6E5ED-3BBD-61F3-93AB-026273106591}"/>
              </a:ext>
            </a:extLst>
          </p:cNvPr>
          <p:cNvCxnSpPr/>
          <p:nvPr/>
        </p:nvCxnSpPr>
        <p:spPr>
          <a:xfrm>
            <a:off x="6271888" y="2845218"/>
            <a:ext cx="0" cy="603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433AAA-DC88-5C16-1015-B1076BFF7F6E}"/>
              </a:ext>
            </a:extLst>
          </p:cNvPr>
          <p:cNvCxnSpPr/>
          <p:nvPr/>
        </p:nvCxnSpPr>
        <p:spPr>
          <a:xfrm>
            <a:off x="6271888" y="3729138"/>
            <a:ext cx="0" cy="603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A07619-2ACA-2B11-FEF8-991415409563}"/>
              </a:ext>
            </a:extLst>
          </p:cNvPr>
          <p:cNvCxnSpPr/>
          <p:nvPr/>
        </p:nvCxnSpPr>
        <p:spPr>
          <a:xfrm>
            <a:off x="6265792" y="4622202"/>
            <a:ext cx="0" cy="603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3CDB61-368D-0F0E-5191-8A9AAC32FA66}"/>
              </a:ext>
            </a:extLst>
          </p:cNvPr>
          <p:cNvCxnSpPr/>
          <p:nvPr/>
        </p:nvCxnSpPr>
        <p:spPr>
          <a:xfrm>
            <a:off x="6284080" y="5460402"/>
            <a:ext cx="0" cy="603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58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C7A1-0989-23EA-C5E2-C7D35C50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911" y="297270"/>
            <a:ext cx="6230177" cy="1010322"/>
          </a:xfrm>
        </p:spPr>
        <p:txBody>
          <a:bodyPr/>
          <a:lstStyle/>
          <a:p>
            <a:r>
              <a:rPr lang="en-GB" dirty="0"/>
              <a:t>Who is the project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B285-0779-0A36-7470-4577636E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673352"/>
            <a:ext cx="10835640" cy="4556759"/>
          </a:xfrm>
        </p:spPr>
        <p:txBody>
          <a:bodyPr/>
          <a:lstStyle/>
          <a:p>
            <a:pPr marL="457200" lvl="1" indent="0">
              <a:buNone/>
            </a:pPr>
            <a:r>
              <a:rPr lang="en-GB" sz="2400" dirty="0"/>
              <a:t>Myself and Future Employers</a:t>
            </a:r>
          </a:p>
          <a:p>
            <a:pPr lvl="1"/>
            <a:r>
              <a:rPr lang="en-GB" sz="2400" dirty="0"/>
              <a:t> Portfolio piece showcasing Technical Design, Level Design , and System Design</a:t>
            </a:r>
          </a:p>
          <a:p>
            <a:pPr lvl="1"/>
            <a:r>
              <a:rPr lang="en-GB" sz="2400" dirty="0"/>
              <a:t>Demonstrates my design process and research abilities </a:t>
            </a:r>
          </a:p>
          <a:p>
            <a:pPr lvl="1"/>
            <a:endParaRPr lang="en-GB" sz="2400" dirty="0"/>
          </a:p>
          <a:p>
            <a:pPr lvl="1"/>
            <a:endParaRPr lang="en-GB" sz="2400" dirty="0"/>
          </a:p>
          <a:p>
            <a:pPr marL="457200" lvl="1" indent="0">
              <a:buNone/>
            </a:pPr>
            <a:r>
              <a:rPr lang="en-GB" sz="2400" dirty="0"/>
              <a:t>Secondary Audience </a:t>
            </a:r>
          </a:p>
          <a:p>
            <a:pPr lvl="1"/>
            <a:r>
              <a:rPr lang="en-GB" sz="2400" dirty="0"/>
              <a:t>Game and Level Designers</a:t>
            </a:r>
          </a:p>
          <a:p>
            <a:pPr lvl="1"/>
            <a:r>
              <a:rPr lang="en-GB" sz="2400" dirty="0"/>
              <a:t>Indie studios without designated designers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658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766</TotalTime>
  <Words>244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Courier New</vt:lpstr>
      <vt:lpstr>Wingdings</vt:lpstr>
      <vt:lpstr>Wingdings 3</vt:lpstr>
      <vt:lpstr>Ion</vt:lpstr>
      <vt:lpstr>Environmental Guidance in Digital Games: Influencing Player Navigation Without Explicit Instruction </vt:lpstr>
      <vt:lpstr>Research Question </vt:lpstr>
      <vt:lpstr>Context of my project</vt:lpstr>
      <vt:lpstr>How does it fit into my specific field</vt:lpstr>
      <vt:lpstr>Existing Research &amp; State of the art</vt:lpstr>
      <vt:lpstr>Artefact</vt:lpstr>
      <vt:lpstr>Research &amp; Development Approach</vt:lpstr>
      <vt:lpstr>Who is the project for?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HODGE</dc:creator>
  <cp:lastModifiedBy>MORGAN HODGE</cp:lastModifiedBy>
  <cp:revision>16</cp:revision>
  <dcterms:created xsi:type="dcterms:W3CDTF">2026-06-04T11:10:39Z</dcterms:created>
  <dcterms:modified xsi:type="dcterms:W3CDTF">2026-06-23T23:49:36Z</dcterms:modified>
</cp:coreProperties>
</file>